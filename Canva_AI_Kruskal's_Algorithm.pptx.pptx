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ptos Bold" charset="1" panose="020B0004020202020204"/>
      <p:regular r:id="rId14"/>
    </p:embeddedFont>
    <p:embeddedFont>
      <p:font typeface="Aptos" charset="1" panose="020B0004020202020204"/>
      <p:regular r:id="rId15"/>
    </p:embeddedFont>
    <p:embeddedFont>
      <p:font typeface="Consolas" charset="1" panose="020B0609020204030204"/>
      <p:regular r:id="rId16"/>
    </p:embeddedFont>
    <p:embeddedFont>
      <p:font typeface="Calibri (MS)" charset="1" panose="020F050202020403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24862" y="823608"/>
            <a:ext cx="2059019" cy="2059019"/>
            <a:chOff x="0" y="0"/>
            <a:chExt cx="2745359" cy="27453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45359" cy="2745359"/>
            </a:xfrm>
            <a:custGeom>
              <a:avLst/>
              <a:gdLst/>
              <a:ahLst/>
              <a:cxnLst/>
              <a:rect r="r" b="b" t="t" l="l"/>
              <a:pathLst>
                <a:path h="2745359" w="2745359">
                  <a:moveTo>
                    <a:pt x="0" y="1372616"/>
                  </a:moveTo>
                  <a:cubicBezTo>
                    <a:pt x="0" y="614553"/>
                    <a:pt x="614553" y="0"/>
                    <a:pt x="1372616" y="0"/>
                  </a:cubicBezTo>
                  <a:cubicBezTo>
                    <a:pt x="2130679" y="0"/>
                    <a:pt x="2745359" y="614553"/>
                    <a:pt x="2745359" y="1372616"/>
                  </a:cubicBezTo>
                  <a:cubicBezTo>
                    <a:pt x="2745359" y="2130679"/>
                    <a:pt x="2130806" y="2745359"/>
                    <a:pt x="1372616" y="2745359"/>
                  </a:cubicBezTo>
                  <a:cubicBezTo>
                    <a:pt x="614426" y="2745359"/>
                    <a:pt x="0" y="2130806"/>
                    <a:pt x="0" y="1372616"/>
                  </a:cubicBezTo>
                  <a:close/>
                </a:path>
              </a:pathLst>
            </a:custGeom>
            <a:solidFill>
              <a:srgbClr val="C4B5F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923000" y="2882608"/>
            <a:ext cx="1029462" cy="1029462"/>
            <a:chOff x="0" y="0"/>
            <a:chExt cx="1372616" cy="13726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2616" cy="1372616"/>
            </a:xfrm>
            <a:custGeom>
              <a:avLst/>
              <a:gdLst/>
              <a:ahLst/>
              <a:cxnLst/>
              <a:rect r="r" b="b" t="t" l="l"/>
              <a:pathLst>
                <a:path h="1372616" w="1372616">
                  <a:moveTo>
                    <a:pt x="0" y="686308"/>
                  </a:moveTo>
                  <a:cubicBezTo>
                    <a:pt x="0" y="307340"/>
                    <a:pt x="307340" y="0"/>
                    <a:pt x="686308" y="0"/>
                  </a:cubicBezTo>
                  <a:cubicBezTo>
                    <a:pt x="1065276" y="0"/>
                    <a:pt x="1372616" y="307340"/>
                    <a:pt x="1372616" y="686308"/>
                  </a:cubicBezTo>
                  <a:cubicBezTo>
                    <a:pt x="1372616" y="1065276"/>
                    <a:pt x="1065276" y="1372616"/>
                    <a:pt x="686308" y="1372616"/>
                  </a:cubicBezTo>
                  <a:cubicBezTo>
                    <a:pt x="307340" y="1372616"/>
                    <a:pt x="0" y="1065403"/>
                    <a:pt x="0" y="686308"/>
                  </a:cubicBezTo>
                  <a:close/>
                </a:path>
              </a:pathLst>
            </a:custGeom>
            <a:solidFill>
              <a:srgbClr val="F472B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863990" y="7412431"/>
            <a:ext cx="1372743" cy="1372743"/>
            <a:chOff x="0" y="0"/>
            <a:chExt cx="1830324" cy="18303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30324" cy="1830324"/>
            </a:xfrm>
            <a:custGeom>
              <a:avLst/>
              <a:gdLst/>
              <a:ahLst/>
              <a:cxnLst/>
              <a:rect r="r" b="b" t="t" l="l"/>
              <a:pathLst>
                <a:path h="1830324" w="1830324">
                  <a:moveTo>
                    <a:pt x="0" y="915162"/>
                  </a:moveTo>
                  <a:cubicBezTo>
                    <a:pt x="0" y="409702"/>
                    <a:pt x="409702" y="0"/>
                    <a:pt x="915162" y="0"/>
                  </a:cubicBezTo>
                  <a:cubicBezTo>
                    <a:pt x="1420622" y="0"/>
                    <a:pt x="1830324" y="409702"/>
                    <a:pt x="1830324" y="915162"/>
                  </a:cubicBezTo>
                  <a:cubicBezTo>
                    <a:pt x="1830324" y="1420622"/>
                    <a:pt x="1420622" y="1830324"/>
                    <a:pt x="915162" y="1830324"/>
                  </a:cubicBezTo>
                  <a:cubicBezTo>
                    <a:pt x="409702" y="1830324"/>
                    <a:pt x="0" y="1420495"/>
                    <a:pt x="0" y="915162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472068" y="7824235"/>
            <a:ext cx="686372" cy="686372"/>
            <a:chOff x="0" y="0"/>
            <a:chExt cx="915162" cy="9151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5162" cy="915162"/>
            </a:xfrm>
            <a:custGeom>
              <a:avLst/>
              <a:gdLst/>
              <a:ahLst/>
              <a:cxnLst/>
              <a:rect r="r" b="b" t="t" l="l"/>
              <a:pathLst>
                <a:path h="915162" w="915162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cubicBezTo>
                    <a:pt x="710311" y="0"/>
                    <a:pt x="915162" y="204851"/>
                    <a:pt x="915162" y="457581"/>
                  </a:cubicBezTo>
                  <a:cubicBezTo>
                    <a:pt x="915162" y="710311"/>
                    <a:pt x="710311" y="915162"/>
                    <a:pt x="457581" y="915162"/>
                  </a:cubicBezTo>
                  <a:cubicBezTo>
                    <a:pt x="204851" y="915162"/>
                    <a:pt x="0" y="710311"/>
                    <a:pt x="0" y="457581"/>
                  </a:cubicBezTo>
                  <a:close/>
                </a:path>
              </a:pathLst>
            </a:custGeom>
            <a:solidFill>
              <a:srgbClr val="FACC15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21638" y="1084364"/>
            <a:ext cx="10597115" cy="370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 b="true">
                <a:solidFill>
                  <a:srgbClr val="2DD4BF"/>
                </a:solidFill>
                <a:latin typeface="Aptos Bold"/>
                <a:ea typeface="Aptos Bold"/>
                <a:cs typeface="Aptos Bold"/>
                <a:sym typeface="Aptos Bold"/>
              </a:rPr>
              <a:t>DESIGN &amp; ANALYSIS OF ALGORITHMS  •  AI COMPONENT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53001" y="2182511"/>
            <a:ext cx="11557987" cy="188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5"/>
              </a:lnSpc>
            </a:pPr>
            <a:r>
              <a:rPr lang="en-US" sz="5703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KRUSKAL’S</a:t>
            </a:r>
          </a:p>
          <a:p>
            <a:pPr algn="l">
              <a:lnSpc>
                <a:spcPts val="6845"/>
              </a:lnSpc>
            </a:pPr>
            <a:r>
              <a:rPr lang="en-US" sz="5703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ALGORITHM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2815" y="4809630"/>
            <a:ext cx="10048046" cy="900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2"/>
              </a:lnSpc>
            </a:pPr>
            <a:r>
              <a:rPr lang="en-US" sz="3302">
                <a:solidFill>
                  <a:srgbClr val="CBD5E1"/>
                </a:solidFill>
                <a:latin typeface="Aptos"/>
                <a:ea typeface="Aptos"/>
                <a:cs typeface="Aptos"/>
                <a:sym typeface="Aptos"/>
              </a:rPr>
              <a:t>Building a minimum spanning tree,</a:t>
            </a:r>
          </a:p>
          <a:p>
            <a:pPr algn="l">
              <a:lnSpc>
                <a:spcPts val="3962"/>
              </a:lnSpc>
            </a:pPr>
            <a:r>
              <a:rPr lang="en-US" sz="3302">
                <a:solidFill>
                  <a:srgbClr val="CBD5E1"/>
                </a:solidFill>
                <a:latin typeface="Aptos"/>
                <a:ea typeface="Aptos"/>
                <a:cs typeface="Aptos"/>
                <a:sym typeface="Aptos"/>
              </a:rPr>
              <a:t>one edge at a time.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07951" y="7069264"/>
            <a:ext cx="5902452" cy="892207"/>
            <a:chOff x="0" y="0"/>
            <a:chExt cx="7869936" cy="118960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869936" cy="1189609"/>
            </a:xfrm>
            <a:custGeom>
              <a:avLst/>
              <a:gdLst/>
              <a:ahLst/>
              <a:cxnLst/>
              <a:rect r="r" b="b" t="t" l="l"/>
              <a:pathLst>
                <a:path h="1189609" w="7869936">
                  <a:moveTo>
                    <a:pt x="0" y="198247"/>
                  </a:moveTo>
                  <a:cubicBezTo>
                    <a:pt x="0" y="88773"/>
                    <a:pt x="88773" y="0"/>
                    <a:pt x="198247" y="0"/>
                  </a:cubicBezTo>
                  <a:lnTo>
                    <a:pt x="7671689" y="0"/>
                  </a:lnTo>
                  <a:cubicBezTo>
                    <a:pt x="7781163" y="0"/>
                    <a:pt x="7869936" y="88773"/>
                    <a:pt x="7869936" y="198247"/>
                  </a:cubicBezTo>
                  <a:lnTo>
                    <a:pt x="7869936" y="991362"/>
                  </a:lnTo>
                  <a:cubicBezTo>
                    <a:pt x="7869936" y="1100836"/>
                    <a:pt x="7781163" y="1189609"/>
                    <a:pt x="7671689" y="1189609"/>
                  </a:cubicBezTo>
                  <a:lnTo>
                    <a:pt x="198247" y="1189609"/>
                  </a:lnTo>
                  <a:cubicBezTo>
                    <a:pt x="88773" y="1189609"/>
                    <a:pt x="0" y="1100836"/>
                    <a:pt x="0" y="991362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482490" y="7275166"/>
            <a:ext cx="5422059" cy="411804"/>
            <a:chOff x="0" y="0"/>
            <a:chExt cx="7229412" cy="5490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229348" cy="549021"/>
            </a:xfrm>
            <a:custGeom>
              <a:avLst/>
              <a:gdLst/>
              <a:ahLst/>
              <a:cxnLst/>
              <a:rect r="r" b="b" t="t" l="l"/>
              <a:pathLst>
                <a:path h="549021" w="7229348">
                  <a:moveTo>
                    <a:pt x="0" y="0"/>
                  </a:moveTo>
                  <a:lnTo>
                    <a:pt x="7229348" y="0"/>
                  </a:lnTo>
                  <a:lnTo>
                    <a:pt x="7229348" y="549021"/>
                  </a:lnTo>
                  <a:lnTo>
                    <a:pt x="0" y="54902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6393" r="0" b="-20640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482490" y="7275166"/>
            <a:ext cx="5422059" cy="411804"/>
            <a:chOff x="0" y="0"/>
            <a:chExt cx="7229412" cy="5490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229412" cy="549072"/>
            </a:xfrm>
            <a:custGeom>
              <a:avLst/>
              <a:gdLst/>
              <a:ahLst/>
              <a:cxnLst/>
              <a:rect r="r" b="b" t="t" l="l"/>
              <a:pathLst>
                <a:path h="549072" w="7229412">
                  <a:moveTo>
                    <a:pt x="0" y="0"/>
                  </a:moveTo>
                  <a:lnTo>
                    <a:pt x="7229412" y="0"/>
                  </a:lnTo>
                  <a:lnTo>
                    <a:pt x="7229412" y="549072"/>
                  </a:lnTo>
                  <a:lnTo>
                    <a:pt x="0" y="5490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551" r="0" b="-20655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7229412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ACC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GENERATED USING CANVA AI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262815" y="8615020"/>
            <a:ext cx="9498978" cy="38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CBD5E1"/>
                </a:solidFill>
                <a:latin typeface="Aptos"/>
                <a:ea typeface="Aptos"/>
                <a:cs typeface="Aptos"/>
                <a:sym typeface="Aptos"/>
              </a:rPr>
              <a:t>Avantika Singh   •   PRN: 25070521187   •   Section 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7099" y="9754333"/>
            <a:ext cx="14303331" cy="211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CBD5E1"/>
                </a:solidFill>
                <a:latin typeface="Aptos"/>
                <a:ea typeface="Aptos"/>
                <a:cs typeface="Aptos"/>
                <a:sym typeface="Aptos"/>
              </a:rPr>
              <a:t>DAA • Design &amp; Analysis of Algorithms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732834" y="9754333"/>
            <a:ext cx="576605" cy="211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 b="true">
                <a:solidFill>
                  <a:srgbClr val="2DD4BF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7099" y="535295"/>
            <a:ext cx="16362340" cy="370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DD4BF"/>
                </a:solidFill>
                <a:latin typeface="Aptos Bold"/>
                <a:ea typeface="Aptos Bold"/>
                <a:cs typeface="Aptos Bold"/>
                <a:sym typeface="Aptos Bold"/>
              </a:rPr>
              <a:t>01 • THE BIG IDEA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7099" y="1084364"/>
            <a:ext cx="16362340" cy="74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What is Kruskal’s Algorithm?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875358"/>
            <a:ext cx="16362340" cy="507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0">
                <a:solidFill>
                  <a:srgbClr val="CBD5E1"/>
                </a:solidFill>
                <a:latin typeface="Aptos"/>
                <a:ea typeface="Aptos"/>
                <a:cs typeface="Aptos"/>
                <a:sym typeface="Aptos"/>
              </a:rPr>
              <a:t>A greedy algorithm for finding a minimum spanning tree (MST) in a connected, weighted, undirected graph.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60872" y="2951245"/>
            <a:ext cx="7137940" cy="5422106"/>
            <a:chOff x="0" y="0"/>
            <a:chExt cx="9517253" cy="72294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17253" cy="7229475"/>
            </a:xfrm>
            <a:custGeom>
              <a:avLst/>
              <a:gdLst/>
              <a:ahLst/>
              <a:cxnLst/>
              <a:rect r="r" b="b" t="t" l="l"/>
              <a:pathLst>
                <a:path h="7229475" w="9517253">
                  <a:moveTo>
                    <a:pt x="0" y="1204976"/>
                  </a:moveTo>
                  <a:cubicBezTo>
                    <a:pt x="0" y="539496"/>
                    <a:pt x="539496" y="0"/>
                    <a:pt x="1204976" y="0"/>
                  </a:cubicBezTo>
                  <a:lnTo>
                    <a:pt x="8312277" y="0"/>
                  </a:lnTo>
                  <a:cubicBezTo>
                    <a:pt x="8977757" y="0"/>
                    <a:pt x="9517253" y="539496"/>
                    <a:pt x="9517253" y="1204976"/>
                  </a:cubicBezTo>
                  <a:lnTo>
                    <a:pt x="9517253" y="6024499"/>
                  </a:lnTo>
                  <a:cubicBezTo>
                    <a:pt x="9517253" y="6689979"/>
                    <a:pt x="8977757" y="7229475"/>
                    <a:pt x="8312277" y="7229475"/>
                  </a:cubicBezTo>
                  <a:lnTo>
                    <a:pt x="1204976" y="7229475"/>
                  </a:lnTo>
                  <a:cubicBezTo>
                    <a:pt x="539496" y="7229348"/>
                    <a:pt x="0" y="6689979"/>
                    <a:pt x="0" y="6024499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445828" y="3459089"/>
            <a:ext cx="6254915" cy="4369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702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Think of connecting cities with roads.</a:t>
            </a:r>
          </a:p>
          <a:p>
            <a:pPr algn="l">
              <a:lnSpc>
                <a:spcPts val="3241"/>
              </a:lnSpc>
            </a:pPr>
            <a:r>
              <a:rPr lang="en-US" sz="2702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• Every road has a construction cost.</a:t>
            </a:r>
          </a:p>
          <a:p>
            <a:pPr algn="l">
              <a:lnSpc>
                <a:spcPts val="3241"/>
              </a:lnSpc>
            </a:pPr>
            <a:r>
              <a:rPr lang="en-US" sz="2702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• Connect every city together.</a:t>
            </a:r>
          </a:p>
          <a:p>
            <a:pPr algn="l">
              <a:lnSpc>
                <a:spcPts val="3241"/>
              </a:lnSpc>
            </a:pPr>
            <a:r>
              <a:rPr lang="en-US" sz="2702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• Keep the total cost as small as possible.</a:t>
            </a:r>
          </a:p>
          <a:p>
            <a:pPr algn="l">
              <a:lnSpc>
                <a:spcPts val="3241"/>
              </a:lnSpc>
            </a:pPr>
          </a:p>
          <a:p>
            <a:pPr algn="l">
              <a:lnSpc>
                <a:spcPts val="3241"/>
              </a:lnSpc>
            </a:pPr>
            <a:r>
              <a:rPr lang="en-US" sz="2702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Kruskal’s rule:</a:t>
            </a:r>
          </a:p>
          <a:p>
            <a:pPr algn="l">
              <a:lnSpc>
                <a:spcPts val="3241"/>
              </a:lnSpc>
            </a:pPr>
            <a:r>
              <a:rPr lang="en-US" sz="2702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Choose the cheapest edge that does NOT create a cycle.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579206" y="2383336"/>
            <a:ext cx="8716518" cy="5990015"/>
            <a:chOff x="0" y="0"/>
            <a:chExt cx="11622024" cy="79866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622024" cy="7986776"/>
            </a:xfrm>
            <a:custGeom>
              <a:avLst/>
              <a:gdLst/>
              <a:ahLst/>
              <a:cxnLst/>
              <a:rect r="r" b="b" t="t" l="l"/>
              <a:pathLst>
                <a:path h="7986776" w="11622024">
                  <a:moveTo>
                    <a:pt x="0" y="1331214"/>
                  </a:moveTo>
                  <a:cubicBezTo>
                    <a:pt x="0" y="596011"/>
                    <a:pt x="539496" y="0"/>
                    <a:pt x="1204976" y="0"/>
                  </a:cubicBezTo>
                  <a:lnTo>
                    <a:pt x="10417048" y="0"/>
                  </a:lnTo>
                  <a:cubicBezTo>
                    <a:pt x="11082528" y="0"/>
                    <a:pt x="11622024" y="596011"/>
                    <a:pt x="11622024" y="1331214"/>
                  </a:cubicBezTo>
                  <a:lnTo>
                    <a:pt x="11622024" y="6655562"/>
                  </a:lnTo>
                  <a:cubicBezTo>
                    <a:pt x="11622024" y="7390765"/>
                    <a:pt x="11082528" y="7986776"/>
                    <a:pt x="10417048" y="7986776"/>
                  </a:cubicBezTo>
                  <a:lnTo>
                    <a:pt x="1204976" y="7986776"/>
                  </a:lnTo>
                  <a:cubicBezTo>
                    <a:pt x="539496" y="7986522"/>
                    <a:pt x="0" y="7390638"/>
                    <a:pt x="0" y="6655562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sp>
        <p:nvSpPr>
          <p:cNvPr name="AutoShape 10" id="10"/>
          <p:cNvSpPr/>
          <p:nvPr/>
        </p:nvSpPr>
        <p:spPr>
          <a:xfrm rot="22920">
            <a:off x="9073534" y="3069460"/>
            <a:ext cx="2854823" cy="0"/>
          </a:xfrm>
          <a:prstGeom prst="line">
            <a:avLst/>
          </a:prstGeom>
          <a:ln cap="rnd" w="19050">
            <a:solidFill>
              <a:srgbClr val="CBD5E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0171500" y="2566902"/>
            <a:ext cx="604076" cy="411861"/>
            <a:chOff x="0" y="0"/>
            <a:chExt cx="805434" cy="5491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05434" cy="549148"/>
            </a:xfrm>
            <a:custGeom>
              <a:avLst/>
              <a:gdLst/>
              <a:ahLst/>
              <a:cxnLst/>
              <a:rect r="r" b="b" t="t" l="l"/>
              <a:pathLst>
                <a:path h="549148" w="8054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lnTo>
                    <a:pt x="713867" y="0"/>
                  </a:lnTo>
                  <a:cubicBezTo>
                    <a:pt x="764413" y="0"/>
                    <a:pt x="805434" y="41021"/>
                    <a:pt x="805434" y="91567"/>
                  </a:cubicBezTo>
                  <a:lnTo>
                    <a:pt x="805434" y="457581"/>
                  </a:lnTo>
                  <a:cubicBezTo>
                    <a:pt x="805434" y="508127"/>
                    <a:pt x="764413" y="549148"/>
                    <a:pt x="713867" y="549148"/>
                  </a:cubicBezTo>
                  <a:lnTo>
                    <a:pt x="91567" y="549148"/>
                  </a:lnTo>
                  <a:cubicBezTo>
                    <a:pt x="41021" y="549021"/>
                    <a:pt x="0" y="508127"/>
                    <a:pt x="0" y="457581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198960" y="2587485"/>
            <a:ext cx="549069" cy="343167"/>
            <a:chOff x="0" y="0"/>
            <a:chExt cx="732092" cy="4575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2155" cy="457581"/>
            </a:xfrm>
            <a:custGeom>
              <a:avLst/>
              <a:gdLst/>
              <a:ahLst/>
              <a:cxnLst/>
              <a:rect r="r" b="b" t="t" l="l"/>
              <a:pathLst>
                <a:path h="457581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242" t="0" r="-30234" b="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198960" y="2587485"/>
            <a:ext cx="549069" cy="343167"/>
            <a:chOff x="0" y="0"/>
            <a:chExt cx="732092" cy="4575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2092" cy="457556"/>
            </a:xfrm>
            <a:custGeom>
              <a:avLst/>
              <a:gdLst/>
              <a:ahLst/>
              <a:cxnLst/>
              <a:rect r="r" b="b" t="t" l="l"/>
              <a:pathLst>
                <a:path h="457556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732092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ACC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 rot="21960">
            <a:off x="11481511" y="3755803"/>
            <a:ext cx="2980496" cy="0"/>
          </a:xfrm>
          <a:prstGeom prst="line">
            <a:avLst/>
          </a:prstGeom>
          <a:ln cap="rnd" w="19050">
            <a:solidFill>
              <a:srgbClr val="CBD5E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2916843" y="3486588"/>
            <a:ext cx="604076" cy="411861"/>
            <a:chOff x="0" y="0"/>
            <a:chExt cx="805434" cy="54914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05434" cy="549148"/>
            </a:xfrm>
            <a:custGeom>
              <a:avLst/>
              <a:gdLst/>
              <a:ahLst/>
              <a:cxnLst/>
              <a:rect r="r" b="b" t="t" l="l"/>
              <a:pathLst>
                <a:path h="549148" w="8054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lnTo>
                    <a:pt x="713867" y="0"/>
                  </a:lnTo>
                  <a:cubicBezTo>
                    <a:pt x="764413" y="0"/>
                    <a:pt x="805434" y="41021"/>
                    <a:pt x="805434" y="91567"/>
                  </a:cubicBezTo>
                  <a:lnTo>
                    <a:pt x="805434" y="457581"/>
                  </a:lnTo>
                  <a:cubicBezTo>
                    <a:pt x="805434" y="508127"/>
                    <a:pt x="764413" y="549148"/>
                    <a:pt x="713867" y="549148"/>
                  </a:cubicBezTo>
                  <a:lnTo>
                    <a:pt x="91567" y="549148"/>
                  </a:lnTo>
                  <a:cubicBezTo>
                    <a:pt x="41021" y="549021"/>
                    <a:pt x="0" y="508127"/>
                    <a:pt x="0" y="457581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944304" y="3507181"/>
            <a:ext cx="549069" cy="343167"/>
            <a:chOff x="0" y="0"/>
            <a:chExt cx="732092" cy="4575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2155" cy="457581"/>
            </a:xfrm>
            <a:custGeom>
              <a:avLst/>
              <a:gdLst/>
              <a:ahLst/>
              <a:cxnLst/>
              <a:rect r="r" b="b" t="t" l="l"/>
              <a:pathLst>
                <a:path h="457581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242" t="0" r="-30234" b="5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944304" y="3507181"/>
            <a:ext cx="549069" cy="343167"/>
            <a:chOff x="0" y="0"/>
            <a:chExt cx="732092" cy="4575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2092" cy="457556"/>
            </a:xfrm>
            <a:custGeom>
              <a:avLst/>
              <a:gdLst/>
              <a:ahLst/>
              <a:cxnLst/>
              <a:rect r="r" b="b" t="t" l="l"/>
              <a:pathLst>
                <a:path h="457556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732092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ACC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rot="12600">
            <a:off x="9006373" y="4030332"/>
            <a:ext cx="5185410" cy="0"/>
          </a:xfrm>
          <a:prstGeom prst="line">
            <a:avLst/>
          </a:prstGeom>
          <a:ln cap="rnd" w="19050">
            <a:solidFill>
              <a:srgbClr val="CBD5E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11434362" y="3527765"/>
            <a:ext cx="604076" cy="411861"/>
            <a:chOff x="0" y="0"/>
            <a:chExt cx="805434" cy="5491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05434" cy="549148"/>
            </a:xfrm>
            <a:custGeom>
              <a:avLst/>
              <a:gdLst/>
              <a:ahLst/>
              <a:cxnLst/>
              <a:rect r="r" b="b" t="t" l="l"/>
              <a:pathLst>
                <a:path h="549148" w="8054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lnTo>
                    <a:pt x="713867" y="0"/>
                  </a:lnTo>
                  <a:cubicBezTo>
                    <a:pt x="764413" y="0"/>
                    <a:pt x="805434" y="41021"/>
                    <a:pt x="805434" y="91567"/>
                  </a:cubicBezTo>
                  <a:lnTo>
                    <a:pt x="805434" y="457581"/>
                  </a:lnTo>
                  <a:cubicBezTo>
                    <a:pt x="805434" y="508127"/>
                    <a:pt x="764413" y="549148"/>
                    <a:pt x="713867" y="549148"/>
                  </a:cubicBezTo>
                  <a:lnTo>
                    <a:pt x="91567" y="549148"/>
                  </a:lnTo>
                  <a:cubicBezTo>
                    <a:pt x="41021" y="549021"/>
                    <a:pt x="0" y="508127"/>
                    <a:pt x="0" y="457581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461813" y="3548358"/>
            <a:ext cx="549069" cy="343167"/>
            <a:chOff x="0" y="0"/>
            <a:chExt cx="732092" cy="4575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2155" cy="457581"/>
            </a:xfrm>
            <a:custGeom>
              <a:avLst/>
              <a:gdLst/>
              <a:ahLst/>
              <a:cxnLst/>
              <a:rect r="r" b="b" t="t" l="l"/>
              <a:pathLst>
                <a:path h="457581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242" t="0" r="-30234" b="5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461813" y="3548358"/>
            <a:ext cx="549069" cy="343167"/>
            <a:chOff x="0" y="0"/>
            <a:chExt cx="732092" cy="4575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2092" cy="457556"/>
            </a:xfrm>
            <a:custGeom>
              <a:avLst/>
              <a:gdLst/>
              <a:ahLst/>
              <a:cxnLst/>
              <a:rect r="r" b="b" t="t" l="l"/>
              <a:pathLst>
                <a:path h="457556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732092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ACC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 rot="18060">
            <a:off x="9957511" y="4579401"/>
            <a:ext cx="3626310" cy="0"/>
          </a:xfrm>
          <a:prstGeom prst="line">
            <a:avLst/>
          </a:prstGeom>
          <a:ln cap="rnd" w="19050">
            <a:solidFill>
              <a:srgbClr val="CBD5E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11166691" y="4378823"/>
            <a:ext cx="604076" cy="411861"/>
            <a:chOff x="0" y="0"/>
            <a:chExt cx="805434" cy="54914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05434" cy="549148"/>
            </a:xfrm>
            <a:custGeom>
              <a:avLst/>
              <a:gdLst/>
              <a:ahLst/>
              <a:cxnLst/>
              <a:rect r="r" b="b" t="t" l="l"/>
              <a:pathLst>
                <a:path h="549148" w="8054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lnTo>
                    <a:pt x="713867" y="0"/>
                  </a:lnTo>
                  <a:cubicBezTo>
                    <a:pt x="764413" y="0"/>
                    <a:pt x="805434" y="41021"/>
                    <a:pt x="805434" y="91567"/>
                  </a:cubicBezTo>
                  <a:lnTo>
                    <a:pt x="805434" y="457581"/>
                  </a:lnTo>
                  <a:cubicBezTo>
                    <a:pt x="805434" y="508127"/>
                    <a:pt x="764413" y="549148"/>
                    <a:pt x="713867" y="549148"/>
                  </a:cubicBezTo>
                  <a:lnTo>
                    <a:pt x="91567" y="549148"/>
                  </a:lnTo>
                  <a:cubicBezTo>
                    <a:pt x="41021" y="549021"/>
                    <a:pt x="0" y="508127"/>
                    <a:pt x="0" y="457581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1194142" y="4399417"/>
            <a:ext cx="549069" cy="343167"/>
            <a:chOff x="0" y="0"/>
            <a:chExt cx="732092" cy="4575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2155" cy="457581"/>
            </a:xfrm>
            <a:custGeom>
              <a:avLst/>
              <a:gdLst/>
              <a:ahLst/>
              <a:cxnLst/>
              <a:rect r="r" b="b" t="t" l="l"/>
              <a:pathLst>
                <a:path h="457581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242" t="0" r="-30234" b="5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194142" y="4399417"/>
            <a:ext cx="549069" cy="343167"/>
            <a:chOff x="0" y="0"/>
            <a:chExt cx="732092" cy="45755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32092" cy="457556"/>
            </a:xfrm>
            <a:custGeom>
              <a:avLst/>
              <a:gdLst/>
              <a:ahLst/>
              <a:cxnLst/>
              <a:rect r="r" b="b" t="t" l="l"/>
              <a:pathLst>
                <a:path h="457556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732092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ACC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sp>
        <p:nvSpPr>
          <p:cNvPr name="AutoShape 42" id="42"/>
          <p:cNvSpPr/>
          <p:nvPr/>
        </p:nvSpPr>
        <p:spPr>
          <a:xfrm rot="22020">
            <a:off x="11381699" y="5540273"/>
            <a:ext cx="2974210" cy="0"/>
          </a:xfrm>
          <a:prstGeom prst="line">
            <a:avLst/>
          </a:prstGeom>
          <a:ln cap="rnd" w="19050">
            <a:solidFill>
              <a:srgbClr val="CBD5E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3" id="43"/>
          <p:cNvGrpSpPr/>
          <p:nvPr/>
        </p:nvGrpSpPr>
        <p:grpSpPr>
          <a:xfrm rot="0">
            <a:off x="12772720" y="5339696"/>
            <a:ext cx="604076" cy="411861"/>
            <a:chOff x="0" y="0"/>
            <a:chExt cx="805434" cy="54914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05434" cy="549148"/>
            </a:xfrm>
            <a:custGeom>
              <a:avLst/>
              <a:gdLst/>
              <a:ahLst/>
              <a:cxnLst/>
              <a:rect r="r" b="b" t="t" l="l"/>
              <a:pathLst>
                <a:path h="549148" w="8054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lnTo>
                    <a:pt x="713867" y="0"/>
                  </a:lnTo>
                  <a:cubicBezTo>
                    <a:pt x="764413" y="0"/>
                    <a:pt x="805434" y="41021"/>
                    <a:pt x="805434" y="91567"/>
                  </a:cubicBezTo>
                  <a:lnTo>
                    <a:pt x="805434" y="457581"/>
                  </a:lnTo>
                  <a:cubicBezTo>
                    <a:pt x="805434" y="508127"/>
                    <a:pt x="764413" y="549148"/>
                    <a:pt x="713867" y="549148"/>
                  </a:cubicBezTo>
                  <a:lnTo>
                    <a:pt x="91567" y="549148"/>
                  </a:lnTo>
                  <a:cubicBezTo>
                    <a:pt x="41021" y="549021"/>
                    <a:pt x="0" y="508127"/>
                    <a:pt x="0" y="457581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800171" y="5360289"/>
            <a:ext cx="549069" cy="343167"/>
            <a:chOff x="0" y="0"/>
            <a:chExt cx="732092" cy="45755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2155" cy="457581"/>
            </a:xfrm>
            <a:custGeom>
              <a:avLst/>
              <a:gdLst/>
              <a:ahLst/>
              <a:cxnLst/>
              <a:rect r="r" b="b" t="t" l="l"/>
              <a:pathLst>
                <a:path h="457581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242" t="0" r="-30234" b="5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800171" y="5360289"/>
            <a:ext cx="549069" cy="343167"/>
            <a:chOff x="0" y="0"/>
            <a:chExt cx="732092" cy="45755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2092" cy="457556"/>
            </a:xfrm>
            <a:custGeom>
              <a:avLst/>
              <a:gdLst/>
              <a:ahLst/>
              <a:cxnLst/>
              <a:rect r="r" b="b" t="t" l="l"/>
              <a:pathLst>
                <a:path h="457556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732092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ACC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</p:txBody>
        </p:sp>
      </p:grpSp>
      <p:sp>
        <p:nvSpPr>
          <p:cNvPr name="AutoShape 50" id="50"/>
          <p:cNvSpPr/>
          <p:nvPr/>
        </p:nvSpPr>
        <p:spPr>
          <a:xfrm rot="24780">
            <a:off x="13126945" y="5952077"/>
            <a:ext cx="2640863" cy="0"/>
          </a:xfrm>
          <a:prstGeom prst="line">
            <a:avLst/>
          </a:prstGeom>
          <a:ln cap="rnd" w="19050">
            <a:solidFill>
              <a:srgbClr val="CBD5E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1" id="51"/>
          <p:cNvGrpSpPr/>
          <p:nvPr/>
        </p:nvGrpSpPr>
        <p:grpSpPr>
          <a:xfrm rot="0">
            <a:off x="14419926" y="5751500"/>
            <a:ext cx="604076" cy="411861"/>
            <a:chOff x="0" y="0"/>
            <a:chExt cx="805434" cy="54914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05434" cy="549148"/>
            </a:xfrm>
            <a:custGeom>
              <a:avLst/>
              <a:gdLst/>
              <a:ahLst/>
              <a:cxnLst/>
              <a:rect r="r" b="b" t="t" l="l"/>
              <a:pathLst>
                <a:path h="549148" w="8054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lnTo>
                    <a:pt x="713867" y="0"/>
                  </a:lnTo>
                  <a:cubicBezTo>
                    <a:pt x="764413" y="0"/>
                    <a:pt x="805434" y="41021"/>
                    <a:pt x="805434" y="91567"/>
                  </a:cubicBezTo>
                  <a:lnTo>
                    <a:pt x="805434" y="457581"/>
                  </a:lnTo>
                  <a:cubicBezTo>
                    <a:pt x="805434" y="508127"/>
                    <a:pt x="764413" y="549148"/>
                    <a:pt x="713867" y="549148"/>
                  </a:cubicBezTo>
                  <a:lnTo>
                    <a:pt x="91567" y="549148"/>
                  </a:lnTo>
                  <a:cubicBezTo>
                    <a:pt x="41021" y="549021"/>
                    <a:pt x="0" y="508127"/>
                    <a:pt x="0" y="457581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4447377" y="5772083"/>
            <a:ext cx="549069" cy="343167"/>
            <a:chOff x="0" y="0"/>
            <a:chExt cx="732092" cy="45755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32155" cy="457581"/>
            </a:xfrm>
            <a:custGeom>
              <a:avLst/>
              <a:gdLst/>
              <a:ahLst/>
              <a:cxnLst/>
              <a:rect r="r" b="b" t="t" l="l"/>
              <a:pathLst>
                <a:path h="457581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242" t="0" r="-30234" b="5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4447377" y="5772083"/>
            <a:ext cx="549069" cy="343167"/>
            <a:chOff x="0" y="0"/>
            <a:chExt cx="732092" cy="45755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32092" cy="457556"/>
            </a:xfrm>
            <a:custGeom>
              <a:avLst/>
              <a:gdLst/>
              <a:ahLst/>
              <a:cxnLst/>
              <a:rect r="r" b="b" t="t" l="l"/>
              <a:pathLst>
                <a:path h="457556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732092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ACC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6</a:t>
              </a:r>
            </a:p>
          </p:txBody>
        </p:sp>
      </p:grpSp>
      <p:sp>
        <p:nvSpPr>
          <p:cNvPr name="AutoShape 58" id="58"/>
          <p:cNvSpPr/>
          <p:nvPr/>
        </p:nvSpPr>
        <p:spPr>
          <a:xfrm rot="19740">
            <a:off x="11586686" y="6775675"/>
            <a:ext cx="3319196" cy="0"/>
          </a:xfrm>
          <a:prstGeom prst="line">
            <a:avLst/>
          </a:prstGeom>
          <a:ln cap="rnd" w="19050">
            <a:solidFill>
              <a:srgbClr val="CBD5E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9" id="59"/>
          <p:cNvGrpSpPr/>
          <p:nvPr/>
        </p:nvGrpSpPr>
        <p:grpSpPr>
          <a:xfrm rot="0">
            <a:off x="12971755" y="6822186"/>
            <a:ext cx="604076" cy="411861"/>
            <a:chOff x="0" y="0"/>
            <a:chExt cx="805434" cy="54914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05434" cy="549148"/>
            </a:xfrm>
            <a:custGeom>
              <a:avLst/>
              <a:gdLst/>
              <a:ahLst/>
              <a:cxnLst/>
              <a:rect r="r" b="b" t="t" l="l"/>
              <a:pathLst>
                <a:path h="549148" w="8054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lnTo>
                    <a:pt x="713867" y="0"/>
                  </a:lnTo>
                  <a:cubicBezTo>
                    <a:pt x="764413" y="0"/>
                    <a:pt x="805434" y="41021"/>
                    <a:pt x="805434" y="91567"/>
                  </a:cubicBezTo>
                  <a:lnTo>
                    <a:pt x="805434" y="457581"/>
                  </a:lnTo>
                  <a:cubicBezTo>
                    <a:pt x="805434" y="508127"/>
                    <a:pt x="764413" y="549148"/>
                    <a:pt x="713867" y="549148"/>
                  </a:cubicBezTo>
                  <a:lnTo>
                    <a:pt x="91567" y="549148"/>
                  </a:lnTo>
                  <a:cubicBezTo>
                    <a:pt x="41021" y="549021"/>
                    <a:pt x="0" y="508127"/>
                    <a:pt x="0" y="457581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2999206" y="6842770"/>
            <a:ext cx="549069" cy="343167"/>
            <a:chOff x="0" y="0"/>
            <a:chExt cx="732092" cy="45755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32155" cy="457581"/>
            </a:xfrm>
            <a:custGeom>
              <a:avLst/>
              <a:gdLst/>
              <a:ahLst/>
              <a:cxnLst/>
              <a:rect r="r" b="b" t="t" l="l"/>
              <a:pathLst>
                <a:path h="457581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242" t="0" r="-30234" b="5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2999206" y="6842770"/>
            <a:ext cx="549069" cy="343167"/>
            <a:chOff x="0" y="0"/>
            <a:chExt cx="732092" cy="45755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32092" cy="457556"/>
            </a:xfrm>
            <a:custGeom>
              <a:avLst/>
              <a:gdLst/>
              <a:ahLst/>
              <a:cxnLst/>
              <a:rect r="r" b="b" t="t" l="l"/>
              <a:pathLst>
                <a:path h="457556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732092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ACC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7</a:t>
              </a:r>
            </a:p>
          </p:txBody>
        </p:sp>
      </p:grpSp>
      <p:sp>
        <p:nvSpPr>
          <p:cNvPr name="Freeform 66" id="66"/>
          <p:cNvSpPr/>
          <p:nvPr/>
        </p:nvSpPr>
        <p:spPr>
          <a:xfrm flipH="false" flipV="false" rot="0">
            <a:off x="8735959" y="2970733"/>
            <a:ext cx="784584" cy="784584"/>
          </a:xfrm>
          <a:custGeom>
            <a:avLst/>
            <a:gdLst/>
            <a:ahLst/>
            <a:cxnLst/>
            <a:rect r="r" b="b" t="t" l="l"/>
            <a:pathLst>
              <a:path h="784584" w="784584">
                <a:moveTo>
                  <a:pt x="0" y="0"/>
                </a:moveTo>
                <a:lnTo>
                  <a:pt x="784583" y="0"/>
                </a:lnTo>
                <a:lnTo>
                  <a:pt x="784583" y="784584"/>
                </a:lnTo>
                <a:lnTo>
                  <a:pt x="0" y="7845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7" id="67"/>
          <p:cNvGrpSpPr/>
          <p:nvPr/>
        </p:nvGrpSpPr>
        <p:grpSpPr>
          <a:xfrm rot="0">
            <a:off x="8745255" y="2980030"/>
            <a:ext cx="766029" cy="766029"/>
            <a:chOff x="0" y="0"/>
            <a:chExt cx="1021372" cy="102137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21372" cy="1021372"/>
            </a:xfrm>
            <a:custGeom>
              <a:avLst/>
              <a:gdLst/>
              <a:ahLst/>
              <a:cxnLst/>
              <a:rect r="r" b="b" t="t" l="l"/>
              <a:pathLst>
                <a:path h="1021372" w="1021372">
                  <a:moveTo>
                    <a:pt x="0" y="0"/>
                  </a:moveTo>
                  <a:lnTo>
                    <a:pt x="1021372" y="0"/>
                  </a:lnTo>
                  <a:lnTo>
                    <a:pt x="1021372" y="1021372"/>
                  </a:lnTo>
                  <a:lnTo>
                    <a:pt x="0" y="10213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1021372" cy="1021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1"/>
                </a:lnSpc>
              </a:pPr>
              <a:r>
                <a:rPr lang="en-US" sz="24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</a:t>
              </a:r>
            </a:p>
          </p:txBody>
        </p:sp>
      </p:grpSp>
      <p:sp>
        <p:nvSpPr>
          <p:cNvPr name="Freeform 70" id="70"/>
          <p:cNvSpPr/>
          <p:nvPr/>
        </p:nvSpPr>
        <p:spPr>
          <a:xfrm flipH="false" flipV="false" rot="0">
            <a:off x="11481302" y="2421665"/>
            <a:ext cx="784584" cy="784584"/>
          </a:xfrm>
          <a:custGeom>
            <a:avLst/>
            <a:gdLst/>
            <a:ahLst/>
            <a:cxnLst/>
            <a:rect r="r" b="b" t="t" l="l"/>
            <a:pathLst>
              <a:path h="784584" w="784584">
                <a:moveTo>
                  <a:pt x="0" y="0"/>
                </a:moveTo>
                <a:lnTo>
                  <a:pt x="784583" y="0"/>
                </a:lnTo>
                <a:lnTo>
                  <a:pt x="784583" y="784583"/>
                </a:lnTo>
                <a:lnTo>
                  <a:pt x="0" y="7845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1" id="71"/>
          <p:cNvGrpSpPr/>
          <p:nvPr/>
        </p:nvGrpSpPr>
        <p:grpSpPr>
          <a:xfrm rot="0">
            <a:off x="11490598" y="2430961"/>
            <a:ext cx="766029" cy="766029"/>
            <a:chOff x="0" y="0"/>
            <a:chExt cx="1021372" cy="102137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21372" cy="1021372"/>
            </a:xfrm>
            <a:custGeom>
              <a:avLst/>
              <a:gdLst/>
              <a:ahLst/>
              <a:cxnLst/>
              <a:rect r="r" b="b" t="t" l="l"/>
              <a:pathLst>
                <a:path h="1021372" w="1021372">
                  <a:moveTo>
                    <a:pt x="0" y="0"/>
                  </a:moveTo>
                  <a:lnTo>
                    <a:pt x="1021372" y="0"/>
                  </a:lnTo>
                  <a:lnTo>
                    <a:pt x="1021372" y="1021372"/>
                  </a:lnTo>
                  <a:lnTo>
                    <a:pt x="0" y="10213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1021372" cy="1021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1"/>
                </a:lnSpc>
              </a:pPr>
              <a:r>
                <a:rPr lang="en-US" sz="24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</a:t>
              </a:r>
            </a:p>
          </p:txBody>
        </p:sp>
      </p:grpSp>
      <p:sp>
        <p:nvSpPr>
          <p:cNvPr name="Freeform 74" id="74"/>
          <p:cNvSpPr/>
          <p:nvPr/>
        </p:nvSpPr>
        <p:spPr>
          <a:xfrm flipH="false" flipV="false" rot="0">
            <a:off x="13677586" y="4343410"/>
            <a:ext cx="784584" cy="784584"/>
          </a:xfrm>
          <a:custGeom>
            <a:avLst/>
            <a:gdLst/>
            <a:ahLst/>
            <a:cxnLst/>
            <a:rect r="r" b="b" t="t" l="l"/>
            <a:pathLst>
              <a:path h="784584" w="784584">
                <a:moveTo>
                  <a:pt x="0" y="0"/>
                </a:moveTo>
                <a:lnTo>
                  <a:pt x="784583" y="0"/>
                </a:lnTo>
                <a:lnTo>
                  <a:pt x="784583" y="784583"/>
                </a:lnTo>
                <a:lnTo>
                  <a:pt x="0" y="7845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5" id="75"/>
          <p:cNvGrpSpPr/>
          <p:nvPr/>
        </p:nvGrpSpPr>
        <p:grpSpPr>
          <a:xfrm rot="0">
            <a:off x="13686882" y="4352706"/>
            <a:ext cx="766029" cy="766029"/>
            <a:chOff x="0" y="0"/>
            <a:chExt cx="1021372" cy="102137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21372" cy="1021372"/>
            </a:xfrm>
            <a:custGeom>
              <a:avLst/>
              <a:gdLst/>
              <a:ahLst/>
              <a:cxnLst/>
              <a:rect r="r" b="b" t="t" l="l"/>
              <a:pathLst>
                <a:path h="1021372" w="1021372">
                  <a:moveTo>
                    <a:pt x="0" y="0"/>
                  </a:moveTo>
                  <a:lnTo>
                    <a:pt x="1021372" y="0"/>
                  </a:lnTo>
                  <a:lnTo>
                    <a:pt x="1021372" y="1021372"/>
                  </a:lnTo>
                  <a:lnTo>
                    <a:pt x="0" y="10213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1021372" cy="1021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1"/>
                </a:lnSpc>
              </a:pPr>
              <a:r>
                <a:rPr lang="en-US" sz="24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</a:t>
              </a:r>
            </a:p>
          </p:txBody>
        </p:sp>
      </p:grpSp>
      <p:sp>
        <p:nvSpPr>
          <p:cNvPr name="Freeform 78" id="78"/>
          <p:cNvSpPr/>
          <p:nvPr/>
        </p:nvSpPr>
        <p:spPr>
          <a:xfrm flipH="false" flipV="false" rot="0">
            <a:off x="11275409" y="5990615"/>
            <a:ext cx="784584" cy="784584"/>
          </a:xfrm>
          <a:custGeom>
            <a:avLst/>
            <a:gdLst/>
            <a:ahLst/>
            <a:cxnLst/>
            <a:rect r="r" b="b" t="t" l="l"/>
            <a:pathLst>
              <a:path h="784584" w="784584">
                <a:moveTo>
                  <a:pt x="0" y="0"/>
                </a:moveTo>
                <a:lnTo>
                  <a:pt x="784584" y="0"/>
                </a:lnTo>
                <a:lnTo>
                  <a:pt x="784584" y="784584"/>
                </a:lnTo>
                <a:lnTo>
                  <a:pt x="0" y="7845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9" id="79"/>
          <p:cNvGrpSpPr/>
          <p:nvPr/>
        </p:nvGrpSpPr>
        <p:grpSpPr>
          <a:xfrm rot="0">
            <a:off x="11284706" y="5999912"/>
            <a:ext cx="766029" cy="766029"/>
            <a:chOff x="0" y="0"/>
            <a:chExt cx="1021372" cy="102137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21372" cy="1021372"/>
            </a:xfrm>
            <a:custGeom>
              <a:avLst/>
              <a:gdLst/>
              <a:ahLst/>
              <a:cxnLst/>
              <a:rect r="r" b="b" t="t" l="l"/>
              <a:pathLst>
                <a:path h="1021372" w="1021372">
                  <a:moveTo>
                    <a:pt x="0" y="0"/>
                  </a:moveTo>
                  <a:lnTo>
                    <a:pt x="1021372" y="0"/>
                  </a:lnTo>
                  <a:lnTo>
                    <a:pt x="1021372" y="1021372"/>
                  </a:lnTo>
                  <a:lnTo>
                    <a:pt x="0" y="10213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1021372" cy="1021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1"/>
                </a:lnSpc>
              </a:pPr>
              <a:r>
                <a:rPr lang="en-US" sz="24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</a:t>
              </a:r>
            </a:p>
          </p:txBody>
        </p:sp>
      </p:grpSp>
      <p:sp>
        <p:nvSpPr>
          <p:cNvPr name="Freeform 82" id="82"/>
          <p:cNvSpPr/>
          <p:nvPr/>
        </p:nvSpPr>
        <p:spPr>
          <a:xfrm flipH="false" flipV="false" rot="0">
            <a:off x="14432556" y="6814223"/>
            <a:ext cx="784584" cy="784584"/>
          </a:xfrm>
          <a:custGeom>
            <a:avLst/>
            <a:gdLst/>
            <a:ahLst/>
            <a:cxnLst/>
            <a:rect r="r" b="b" t="t" l="l"/>
            <a:pathLst>
              <a:path h="784584" w="784584">
                <a:moveTo>
                  <a:pt x="0" y="0"/>
                </a:moveTo>
                <a:lnTo>
                  <a:pt x="784584" y="0"/>
                </a:lnTo>
                <a:lnTo>
                  <a:pt x="784584" y="784584"/>
                </a:lnTo>
                <a:lnTo>
                  <a:pt x="0" y="7845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3" id="83"/>
          <p:cNvGrpSpPr/>
          <p:nvPr/>
        </p:nvGrpSpPr>
        <p:grpSpPr>
          <a:xfrm rot="0">
            <a:off x="14441853" y="6823520"/>
            <a:ext cx="766029" cy="766029"/>
            <a:chOff x="0" y="0"/>
            <a:chExt cx="1021372" cy="102137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21372" cy="1021372"/>
            </a:xfrm>
            <a:custGeom>
              <a:avLst/>
              <a:gdLst/>
              <a:ahLst/>
              <a:cxnLst/>
              <a:rect r="r" b="b" t="t" l="l"/>
              <a:pathLst>
                <a:path h="1021372" w="1021372">
                  <a:moveTo>
                    <a:pt x="0" y="0"/>
                  </a:moveTo>
                  <a:lnTo>
                    <a:pt x="1021372" y="0"/>
                  </a:lnTo>
                  <a:lnTo>
                    <a:pt x="1021372" y="1021372"/>
                  </a:lnTo>
                  <a:lnTo>
                    <a:pt x="0" y="10213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0"/>
              <a:ext cx="1021372" cy="1021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1"/>
                </a:lnSpc>
              </a:pPr>
              <a:r>
                <a:rPr lang="en-US" sz="24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</a:t>
              </a:r>
            </a:p>
          </p:txBody>
        </p:sp>
      </p:grpSp>
      <p:sp>
        <p:nvSpPr>
          <p:cNvPr name="TextBox 86" id="86"/>
          <p:cNvSpPr txBox="true"/>
          <p:nvPr/>
        </p:nvSpPr>
        <p:spPr>
          <a:xfrm rot="0">
            <a:off x="9183138" y="8615020"/>
            <a:ext cx="7439968" cy="458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2DD4BF"/>
                </a:solidFill>
                <a:latin typeface="Aptos Bold"/>
                <a:ea typeface="Aptos Bold"/>
                <a:cs typeface="Aptos Bold"/>
                <a:sym typeface="Aptos Bold"/>
              </a:rPr>
              <a:t>Goal: connect all vertices with minimum total edge weight.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947099" y="9754333"/>
            <a:ext cx="14303331" cy="211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CBD5E1"/>
                </a:solidFill>
                <a:latin typeface="Aptos"/>
                <a:ea typeface="Aptos"/>
                <a:cs typeface="Aptos"/>
                <a:sym typeface="Aptos"/>
              </a:rPr>
              <a:t>DAA • Design &amp; Analysis of Algorithms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6732834" y="9754333"/>
            <a:ext cx="576605" cy="211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 b="true">
                <a:solidFill>
                  <a:srgbClr val="2DD4BF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7099" y="535295"/>
            <a:ext cx="16362340" cy="370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DD4BF"/>
                </a:solidFill>
                <a:latin typeface="Aptos Bold"/>
                <a:ea typeface="Aptos Bold"/>
                <a:cs typeface="Aptos Bold"/>
                <a:sym typeface="Aptos Bold"/>
              </a:rPr>
              <a:t>02 • THE GREEDY STRATEGY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7099" y="1084364"/>
            <a:ext cx="16362340" cy="74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Sort first. Then select carefully.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88285" y="2004060"/>
            <a:ext cx="16362340" cy="507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0">
                <a:solidFill>
                  <a:srgbClr val="CBD5E1"/>
                </a:solidFill>
                <a:latin typeface="Aptos"/>
                <a:ea typeface="Aptos"/>
                <a:cs typeface="Aptos"/>
                <a:sym typeface="Aptos"/>
              </a:rPr>
              <a:t>Edges are considered in increasing order of weight.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9500" y="2813980"/>
            <a:ext cx="5490782" cy="5971127"/>
            <a:chOff x="0" y="0"/>
            <a:chExt cx="7321042" cy="79615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321042" cy="7961503"/>
            </a:xfrm>
            <a:custGeom>
              <a:avLst/>
              <a:gdLst/>
              <a:ahLst/>
              <a:cxnLst/>
              <a:rect r="r" b="b" t="t" l="l"/>
              <a:pathLst>
                <a:path h="7961503" w="7321042">
                  <a:moveTo>
                    <a:pt x="0" y="1220216"/>
                  </a:moveTo>
                  <a:cubicBezTo>
                    <a:pt x="0" y="546354"/>
                    <a:pt x="546354" y="0"/>
                    <a:pt x="1220216" y="0"/>
                  </a:cubicBezTo>
                  <a:lnTo>
                    <a:pt x="6100826" y="0"/>
                  </a:lnTo>
                  <a:cubicBezTo>
                    <a:pt x="6774688" y="0"/>
                    <a:pt x="7321042" y="546354"/>
                    <a:pt x="7321042" y="1220216"/>
                  </a:cubicBezTo>
                  <a:lnTo>
                    <a:pt x="7321042" y="6741287"/>
                  </a:lnTo>
                  <a:cubicBezTo>
                    <a:pt x="7321042" y="7415149"/>
                    <a:pt x="6774688" y="7961503"/>
                    <a:pt x="6100826" y="7961503"/>
                  </a:cubicBezTo>
                  <a:lnTo>
                    <a:pt x="1220216" y="7961503"/>
                  </a:lnTo>
                  <a:cubicBezTo>
                    <a:pt x="546354" y="7961503"/>
                    <a:pt x="0" y="7415149"/>
                    <a:pt x="0" y="6741287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496168" y="3280648"/>
            <a:ext cx="4557360" cy="370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 b="true">
                <a:solidFill>
                  <a:srgbClr val="2DD4BF"/>
                </a:solidFill>
                <a:latin typeface="Aptos Bold"/>
                <a:ea typeface="Aptos Bold"/>
                <a:cs typeface="Aptos Bold"/>
                <a:sym typeface="Aptos Bold"/>
              </a:rPr>
              <a:t>SORTED EDGE LIST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64805" y="4054669"/>
            <a:ext cx="4420095" cy="3920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2"/>
              </a:lnSpc>
            </a:pPr>
            <a:r>
              <a:rPr lang="en-US" sz="3302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AB  —  1</a:t>
            </a:r>
          </a:p>
          <a:p>
            <a:pPr algn="l">
              <a:lnSpc>
                <a:spcPts val="3962"/>
              </a:lnSpc>
            </a:pPr>
            <a:r>
              <a:rPr lang="en-US" sz="3302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BC  —  2</a:t>
            </a:r>
          </a:p>
          <a:p>
            <a:pPr algn="l">
              <a:lnSpc>
                <a:spcPts val="3962"/>
              </a:lnSpc>
            </a:pPr>
            <a:r>
              <a:rPr lang="en-US" sz="3302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AC  —  3</a:t>
            </a:r>
          </a:p>
          <a:p>
            <a:pPr algn="l">
              <a:lnSpc>
                <a:spcPts val="3962"/>
              </a:lnSpc>
            </a:pPr>
            <a:r>
              <a:rPr lang="en-US" sz="3302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BD  —  4</a:t>
            </a:r>
          </a:p>
          <a:p>
            <a:pPr algn="l">
              <a:lnSpc>
                <a:spcPts val="3962"/>
              </a:lnSpc>
            </a:pPr>
            <a:r>
              <a:rPr lang="en-US" sz="3302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CD  —  5</a:t>
            </a:r>
          </a:p>
          <a:p>
            <a:pPr algn="l">
              <a:lnSpc>
                <a:spcPts val="3962"/>
              </a:lnSpc>
            </a:pPr>
            <a:r>
              <a:rPr lang="en-US" sz="3302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CE  —  6</a:t>
            </a:r>
          </a:p>
          <a:p>
            <a:pPr algn="l">
              <a:lnSpc>
                <a:spcPts val="3962"/>
              </a:lnSpc>
            </a:pPr>
            <a:r>
              <a:rPr lang="en-US" sz="3302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DE  —  7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746721" y="2258054"/>
            <a:ext cx="9548908" cy="6527054"/>
            <a:chOff x="0" y="0"/>
            <a:chExt cx="12731877" cy="87027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731877" cy="8702802"/>
            </a:xfrm>
            <a:custGeom>
              <a:avLst/>
              <a:gdLst/>
              <a:ahLst/>
              <a:cxnLst/>
              <a:rect r="r" b="b" t="t" l="l"/>
              <a:pathLst>
                <a:path h="8702802" w="12731877">
                  <a:moveTo>
                    <a:pt x="0" y="1450467"/>
                  </a:moveTo>
                  <a:cubicBezTo>
                    <a:pt x="0" y="649478"/>
                    <a:pt x="551053" y="0"/>
                    <a:pt x="1230757" y="0"/>
                  </a:cubicBezTo>
                  <a:lnTo>
                    <a:pt x="11501120" y="0"/>
                  </a:lnTo>
                  <a:cubicBezTo>
                    <a:pt x="12180824" y="0"/>
                    <a:pt x="12731877" y="649478"/>
                    <a:pt x="12731877" y="1450467"/>
                  </a:cubicBezTo>
                  <a:lnTo>
                    <a:pt x="12731877" y="7252335"/>
                  </a:lnTo>
                  <a:cubicBezTo>
                    <a:pt x="12731877" y="8053324"/>
                    <a:pt x="12180824" y="8702802"/>
                    <a:pt x="11501120" y="8702802"/>
                  </a:cubicBezTo>
                  <a:lnTo>
                    <a:pt x="1230757" y="8702802"/>
                  </a:lnTo>
                  <a:cubicBezTo>
                    <a:pt x="551053" y="8702802"/>
                    <a:pt x="0" y="8053324"/>
                    <a:pt x="0" y="7252335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sp>
        <p:nvSpPr>
          <p:cNvPr name="AutoShape 11" id="11"/>
          <p:cNvSpPr/>
          <p:nvPr/>
        </p:nvSpPr>
        <p:spPr>
          <a:xfrm rot="22920">
            <a:off x="9553975" y="3069460"/>
            <a:ext cx="2854823" cy="0"/>
          </a:xfrm>
          <a:prstGeom prst="line">
            <a:avLst/>
          </a:prstGeom>
          <a:ln cap="rnd" w="19050">
            <a:solidFill>
              <a:srgbClr val="CBD5E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0651941" y="2566902"/>
            <a:ext cx="604076" cy="411861"/>
            <a:chOff x="0" y="0"/>
            <a:chExt cx="805434" cy="5491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05434" cy="549148"/>
            </a:xfrm>
            <a:custGeom>
              <a:avLst/>
              <a:gdLst/>
              <a:ahLst/>
              <a:cxnLst/>
              <a:rect r="r" b="b" t="t" l="l"/>
              <a:pathLst>
                <a:path h="549148" w="8054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lnTo>
                    <a:pt x="713867" y="0"/>
                  </a:lnTo>
                  <a:cubicBezTo>
                    <a:pt x="764413" y="0"/>
                    <a:pt x="805434" y="41021"/>
                    <a:pt x="805434" y="91567"/>
                  </a:cubicBezTo>
                  <a:lnTo>
                    <a:pt x="805434" y="457581"/>
                  </a:lnTo>
                  <a:cubicBezTo>
                    <a:pt x="805434" y="508127"/>
                    <a:pt x="764413" y="549148"/>
                    <a:pt x="713867" y="549148"/>
                  </a:cubicBezTo>
                  <a:lnTo>
                    <a:pt x="91567" y="549148"/>
                  </a:lnTo>
                  <a:cubicBezTo>
                    <a:pt x="41021" y="549021"/>
                    <a:pt x="0" y="508127"/>
                    <a:pt x="0" y="457581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679392" y="2587485"/>
            <a:ext cx="549069" cy="343167"/>
            <a:chOff x="0" y="0"/>
            <a:chExt cx="732092" cy="4575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2155" cy="457581"/>
            </a:xfrm>
            <a:custGeom>
              <a:avLst/>
              <a:gdLst/>
              <a:ahLst/>
              <a:cxnLst/>
              <a:rect r="r" b="b" t="t" l="l"/>
              <a:pathLst>
                <a:path h="457581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242" t="0" r="-30234" b="5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679392" y="2587485"/>
            <a:ext cx="549069" cy="343167"/>
            <a:chOff x="0" y="0"/>
            <a:chExt cx="732092" cy="4575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2092" cy="457556"/>
            </a:xfrm>
            <a:custGeom>
              <a:avLst/>
              <a:gdLst/>
              <a:ahLst/>
              <a:cxnLst/>
              <a:rect r="r" b="b" t="t" l="l"/>
              <a:pathLst>
                <a:path h="457556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732092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ACC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rot="21960">
            <a:off x="11961943" y="3755803"/>
            <a:ext cx="2980496" cy="0"/>
          </a:xfrm>
          <a:prstGeom prst="line">
            <a:avLst/>
          </a:prstGeom>
          <a:ln cap="rnd" w="19050">
            <a:solidFill>
              <a:srgbClr val="CBD5E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3397284" y="3486588"/>
            <a:ext cx="604076" cy="411861"/>
            <a:chOff x="0" y="0"/>
            <a:chExt cx="805434" cy="5491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05434" cy="549148"/>
            </a:xfrm>
            <a:custGeom>
              <a:avLst/>
              <a:gdLst/>
              <a:ahLst/>
              <a:cxnLst/>
              <a:rect r="r" b="b" t="t" l="l"/>
              <a:pathLst>
                <a:path h="549148" w="8054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lnTo>
                    <a:pt x="713867" y="0"/>
                  </a:lnTo>
                  <a:cubicBezTo>
                    <a:pt x="764413" y="0"/>
                    <a:pt x="805434" y="41021"/>
                    <a:pt x="805434" y="91567"/>
                  </a:cubicBezTo>
                  <a:lnTo>
                    <a:pt x="805434" y="457581"/>
                  </a:lnTo>
                  <a:cubicBezTo>
                    <a:pt x="805434" y="508127"/>
                    <a:pt x="764413" y="549148"/>
                    <a:pt x="713867" y="549148"/>
                  </a:cubicBezTo>
                  <a:lnTo>
                    <a:pt x="91567" y="549148"/>
                  </a:lnTo>
                  <a:cubicBezTo>
                    <a:pt x="41021" y="549021"/>
                    <a:pt x="0" y="508127"/>
                    <a:pt x="0" y="457581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424735" y="3507181"/>
            <a:ext cx="549069" cy="343167"/>
            <a:chOff x="0" y="0"/>
            <a:chExt cx="732092" cy="4575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2155" cy="457581"/>
            </a:xfrm>
            <a:custGeom>
              <a:avLst/>
              <a:gdLst/>
              <a:ahLst/>
              <a:cxnLst/>
              <a:rect r="r" b="b" t="t" l="l"/>
              <a:pathLst>
                <a:path h="457581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242" t="0" r="-30234" b="5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424735" y="3507181"/>
            <a:ext cx="549069" cy="343167"/>
            <a:chOff x="0" y="0"/>
            <a:chExt cx="732092" cy="4575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32092" cy="457556"/>
            </a:xfrm>
            <a:custGeom>
              <a:avLst/>
              <a:gdLst/>
              <a:ahLst/>
              <a:cxnLst/>
              <a:rect r="r" b="b" t="t" l="l"/>
              <a:pathLst>
                <a:path h="457556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732092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ACC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 rot="12600">
            <a:off x="9486814" y="4030332"/>
            <a:ext cx="5185410" cy="0"/>
          </a:xfrm>
          <a:prstGeom prst="line">
            <a:avLst/>
          </a:prstGeom>
          <a:ln cap="rnd" w="19050">
            <a:solidFill>
              <a:srgbClr val="CBD5E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1914794" y="3527765"/>
            <a:ext cx="604076" cy="411861"/>
            <a:chOff x="0" y="0"/>
            <a:chExt cx="805434" cy="54914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05434" cy="549148"/>
            </a:xfrm>
            <a:custGeom>
              <a:avLst/>
              <a:gdLst/>
              <a:ahLst/>
              <a:cxnLst/>
              <a:rect r="r" b="b" t="t" l="l"/>
              <a:pathLst>
                <a:path h="549148" w="8054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lnTo>
                    <a:pt x="713867" y="0"/>
                  </a:lnTo>
                  <a:cubicBezTo>
                    <a:pt x="764413" y="0"/>
                    <a:pt x="805434" y="41021"/>
                    <a:pt x="805434" y="91567"/>
                  </a:cubicBezTo>
                  <a:lnTo>
                    <a:pt x="805434" y="457581"/>
                  </a:lnTo>
                  <a:cubicBezTo>
                    <a:pt x="805434" y="508127"/>
                    <a:pt x="764413" y="549148"/>
                    <a:pt x="713867" y="549148"/>
                  </a:cubicBezTo>
                  <a:lnTo>
                    <a:pt x="91567" y="549148"/>
                  </a:lnTo>
                  <a:cubicBezTo>
                    <a:pt x="41021" y="549021"/>
                    <a:pt x="0" y="508127"/>
                    <a:pt x="0" y="457581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942254" y="3548358"/>
            <a:ext cx="549069" cy="343167"/>
            <a:chOff x="0" y="0"/>
            <a:chExt cx="732092" cy="4575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32155" cy="457581"/>
            </a:xfrm>
            <a:custGeom>
              <a:avLst/>
              <a:gdLst/>
              <a:ahLst/>
              <a:cxnLst/>
              <a:rect r="r" b="b" t="t" l="l"/>
              <a:pathLst>
                <a:path h="457581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242" t="0" r="-30234" b="5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942254" y="3548358"/>
            <a:ext cx="549069" cy="343167"/>
            <a:chOff x="0" y="0"/>
            <a:chExt cx="732092" cy="4575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2092" cy="457556"/>
            </a:xfrm>
            <a:custGeom>
              <a:avLst/>
              <a:gdLst/>
              <a:ahLst/>
              <a:cxnLst/>
              <a:rect r="r" b="b" t="t" l="l"/>
              <a:pathLst>
                <a:path h="457556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732092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ACC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sp>
        <p:nvSpPr>
          <p:cNvPr name="AutoShape 35" id="35"/>
          <p:cNvSpPr/>
          <p:nvPr/>
        </p:nvSpPr>
        <p:spPr>
          <a:xfrm rot="18060">
            <a:off x="10437943" y="4579401"/>
            <a:ext cx="3626310" cy="0"/>
          </a:xfrm>
          <a:prstGeom prst="line">
            <a:avLst/>
          </a:prstGeom>
          <a:ln cap="rnd" w="19050">
            <a:solidFill>
              <a:srgbClr val="CBD5E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11647122" y="4378823"/>
            <a:ext cx="604076" cy="411861"/>
            <a:chOff x="0" y="0"/>
            <a:chExt cx="805434" cy="54914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05434" cy="549148"/>
            </a:xfrm>
            <a:custGeom>
              <a:avLst/>
              <a:gdLst/>
              <a:ahLst/>
              <a:cxnLst/>
              <a:rect r="r" b="b" t="t" l="l"/>
              <a:pathLst>
                <a:path h="549148" w="8054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lnTo>
                    <a:pt x="713867" y="0"/>
                  </a:lnTo>
                  <a:cubicBezTo>
                    <a:pt x="764413" y="0"/>
                    <a:pt x="805434" y="41021"/>
                    <a:pt x="805434" y="91567"/>
                  </a:cubicBezTo>
                  <a:lnTo>
                    <a:pt x="805434" y="457581"/>
                  </a:lnTo>
                  <a:cubicBezTo>
                    <a:pt x="805434" y="508127"/>
                    <a:pt x="764413" y="549148"/>
                    <a:pt x="713867" y="549148"/>
                  </a:cubicBezTo>
                  <a:lnTo>
                    <a:pt x="91567" y="549148"/>
                  </a:lnTo>
                  <a:cubicBezTo>
                    <a:pt x="41021" y="549021"/>
                    <a:pt x="0" y="508127"/>
                    <a:pt x="0" y="457581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674583" y="4399417"/>
            <a:ext cx="549069" cy="343167"/>
            <a:chOff x="0" y="0"/>
            <a:chExt cx="732092" cy="45755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32155" cy="457581"/>
            </a:xfrm>
            <a:custGeom>
              <a:avLst/>
              <a:gdLst/>
              <a:ahLst/>
              <a:cxnLst/>
              <a:rect r="r" b="b" t="t" l="l"/>
              <a:pathLst>
                <a:path h="457581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242" t="0" r="-30234" b="5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1674583" y="4399417"/>
            <a:ext cx="549069" cy="343167"/>
            <a:chOff x="0" y="0"/>
            <a:chExt cx="732092" cy="4575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32092" cy="457556"/>
            </a:xfrm>
            <a:custGeom>
              <a:avLst/>
              <a:gdLst/>
              <a:ahLst/>
              <a:cxnLst/>
              <a:rect r="r" b="b" t="t" l="l"/>
              <a:pathLst>
                <a:path h="457556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732092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ACC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sp>
        <p:nvSpPr>
          <p:cNvPr name="AutoShape 43" id="43"/>
          <p:cNvSpPr/>
          <p:nvPr/>
        </p:nvSpPr>
        <p:spPr>
          <a:xfrm rot="22020">
            <a:off x="11862130" y="5540273"/>
            <a:ext cx="2974210" cy="0"/>
          </a:xfrm>
          <a:prstGeom prst="line">
            <a:avLst/>
          </a:prstGeom>
          <a:ln cap="rnd" w="19050">
            <a:solidFill>
              <a:srgbClr val="CBD5E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4" id="44"/>
          <p:cNvGrpSpPr/>
          <p:nvPr/>
        </p:nvGrpSpPr>
        <p:grpSpPr>
          <a:xfrm rot="0">
            <a:off x="13253152" y="5339696"/>
            <a:ext cx="604076" cy="411861"/>
            <a:chOff x="0" y="0"/>
            <a:chExt cx="805434" cy="54914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05434" cy="549148"/>
            </a:xfrm>
            <a:custGeom>
              <a:avLst/>
              <a:gdLst/>
              <a:ahLst/>
              <a:cxnLst/>
              <a:rect r="r" b="b" t="t" l="l"/>
              <a:pathLst>
                <a:path h="549148" w="8054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lnTo>
                    <a:pt x="713867" y="0"/>
                  </a:lnTo>
                  <a:cubicBezTo>
                    <a:pt x="764413" y="0"/>
                    <a:pt x="805434" y="41021"/>
                    <a:pt x="805434" y="91567"/>
                  </a:cubicBezTo>
                  <a:lnTo>
                    <a:pt x="805434" y="457581"/>
                  </a:lnTo>
                  <a:cubicBezTo>
                    <a:pt x="805434" y="508127"/>
                    <a:pt x="764413" y="549148"/>
                    <a:pt x="713867" y="549148"/>
                  </a:cubicBezTo>
                  <a:lnTo>
                    <a:pt x="91567" y="549148"/>
                  </a:lnTo>
                  <a:cubicBezTo>
                    <a:pt x="41021" y="549021"/>
                    <a:pt x="0" y="508127"/>
                    <a:pt x="0" y="457581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3280603" y="5360289"/>
            <a:ext cx="549069" cy="343167"/>
            <a:chOff x="0" y="0"/>
            <a:chExt cx="732092" cy="45755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32155" cy="457581"/>
            </a:xfrm>
            <a:custGeom>
              <a:avLst/>
              <a:gdLst/>
              <a:ahLst/>
              <a:cxnLst/>
              <a:rect r="r" b="b" t="t" l="l"/>
              <a:pathLst>
                <a:path h="457581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242" t="0" r="-30234" b="5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280603" y="5360289"/>
            <a:ext cx="549069" cy="343167"/>
            <a:chOff x="0" y="0"/>
            <a:chExt cx="732092" cy="45755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32092" cy="457556"/>
            </a:xfrm>
            <a:custGeom>
              <a:avLst/>
              <a:gdLst/>
              <a:ahLst/>
              <a:cxnLst/>
              <a:rect r="r" b="b" t="t" l="l"/>
              <a:pathLst>
                <a:path h="457556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732092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ACC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</p:txBody>
        </p:sp>
      </p:grpSp>
      <p:sp>
        <p:nvSpPr>
          <p:cNvPr name="AutoShape 51" id="51"/>
          <p:cNvSpPr/>
          <p:nvPr/>
        </p:nvSpPr>
        <p:spPr>
          <a:xfrm rot="24780">
            <a:off x="13607377" y="5952077"/>
            <a:ext cx="2640863" cy="0"/>
          </a:xfrm>
          <a:prstGeom prst="line">
            <a:avLst/>
          </a:prstGeom>
          <a:ln cap="rnd" w="19050">
            <a:solidFill>
              <a:srgbClr val="CBD5E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2" id="52"/>
          <p:cNvGrpSpPr/>
          <p:nvPr/>
        </p:nvGrpSpPr>
        <p:grpSpPr>
          <a:xfrm rot="0">
            <a:off x="14900358" y="5751500"/>
            <a:ext cx="604076" cy="411861"/>
            <a:chOff x="0" y="0"/>
            <a:chExt cx="805434" cy="54914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05434" cy="549148"/>
            </a:xfrm>
            <a:custGeom>
              <a:avLst/>
              <a:gdLst/>
              <a:ahLst/>
              <a:cxnLst/>
              <a:rect r="r" b="b" t="t" l="l"/>
              <a:pathLst>
                <a:path h="549148" w="8054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lnTo>
                    <a:pt x="713867" y="0"/>
                  </a:lnTo>
                  <a:cubicBezTo>
                    <a:pt x="764413" y="0"/>
                    <a:pt x="805434" y="41021"/>
                    <a:pt x="805434" y="91567"/>
                  </a:cubicBezTo>
                  <a:lnTo>
                    <a:pt x="805434" y="457581"/>
                  </a:lnTo>
                  <a:cubicBezTo>
                    <a:pt x="805434" y="508127"/>
                    <a:pt x="764413" y="549148"/>
                    <a:pt x="713867" y="549148"/>
                  </a:cubicBezTo>
                  <a:lnTo>
                    <a:pt x="91567" y="549148"/>
                  </a:lnTo>
                  <a:cubicBezTo>
                    <a:pt x="41021" y="549021"/>
                    <a:pt x="0" y="508127"/>
                    <a:pt x="0" y="457581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4927809" y="5772083"/>
            <a:ext cx="549069" cy="343167"/>
            <a:chOff x="0" y="0"/>
            <a:chExt cx="732092" cy="45755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32155" cy="457581"/>
            </a:xfrm>
            <a:custGeom>
              <a:avLst/>
              <a:gdLst/>
              <a:ahLst/>
              <a:cxnLst/>
              <a:rect r="r" b="b" t="t" l="l"/>
              <a:pathLst>
                <a:path h="457581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242" t="0" r="-30234" b="5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4927809" y="5772083"/>
            <a:ext cx="549069" cy="343167"/>
            <a:chOff x="0" y="0"/>
            <a:chExt cx="732092" cy="4575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32092" cy="457556"/>
            </a:xfrm>
            <a:custGeom>
              <a:avLst/>
              <a:gdLst/>
              <a:ahLst/>
              <a:cxnLst/>
              <a:rect r="r" b="b" t="t" l="l"/>
              <a:pathLst>
                <a:path h="457556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732092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ACC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6</a:t>
              </a:r>
            </a:p>
          </p:txBody>
        </p:sp>
      </p:grpSp>
      <p:sp>
        <p:nvSpPr>
          <p:cNvPr name="AutoShape 59" id="59"/>
          <p:cNvSpPr/>
          <p:nvPr/>
        </p:nvSpPr>
        <p:spPr>
          <a:xfrm rot="19740">
            <a:off x="12067127" y="6775675"/>
            <a:ext cx="3319196" cy="0"/>
          </a:xfrm>
          <a:prstGeom prst="line">
            <a:avLst/>
          </a:prstGeom>
          <a:ln cap="rnd" w="19050">
            <a:solidFill>
              <a:srgbClr val="CBD5E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0" id="60"/>
          <p:cNvGrpSpPr/>
          <p:nvPr/>
        </p:nvGrpSpPr>
        <p:grpSpPr>
          <a:xfrm rot="0">
            <a:off x="13452186" y="6822186"/>
            <a:ext cx="604076" cy="411861"/>
            <a:chOff x="0" y="0"/>
            <a:chExt cx="805434" cy="54914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05434" cy="549148"/>
            </a:xfrm>
            <a:custGeom>
              <a:avLst/>
              <a:gdLst/>
              <a:ahLst/>
              <a:cxnLst/>
              <a:rect r="r" b="b" t="t" l="l"/>
              <a:pathLst>
                <a:path h="549148" w="8054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lnTo>
                    <a:pt x="713867" y="0"/>
                  </a:lnTo>
                  <a:cubicBezTo>
                    <a:pt x="764413" y="0"/>
                    <a:pt x="805434" y="41021"/>
                    <a:pt x="805434" y="91567"/>
                  </a:cubicBezTo>
                  <a:lnTo>
                    <a:pt x="805434" y="457581"/>
                  </a:lnTo>
                  <a:cubicBezTo>
                    <a:pt x="805434" y="508127"/>
                    <a:pt x="764413" y="549148"/>
                    <a:pt x="713867" y="549148"/>
                  </a:cubicBezTo>
                  <a:lnTo>
                    <a:pt x="91567" y="549148"/>
                  </a:lnTo>
                  <a:cubicBezTo>
                    <a:pt x="41021" y="549021"/>
                    <a:pt x="0" y="508127"/>
                    <a:pt x="0" y="457581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3479647" y="6842770"/>
            <a:ext cx="549069" cy="343167"/>
            <a:chOff x="0" y="0"/>
            <a:chExt cx="732092" cy="45755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32155" cy="457581"/>
            </a:xfrm>
            <a:custGeom>
              <a:avLst/>
              <a:gdLst/>
              <a:ahLst/>
              <a:cxnLst/>
              <a:rect r="r" b="b" t="t" l="l"/>
              <a:pathLst>
                <a:path h="457581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242" t="0" r="-30234" b="5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3479647" y="6842770"/>
            <a:ext cx="549069" cy="343167"/>
            <a:chOff x="0" y="0"/>
            <a:chExt cx="732092" cy="45755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32092" cy="457556"/>
            </a:xfrm>
            <a:custGeom>
              <a:avLst/>
              <a:gdLst/>
              <a:ahLst/>
              <a:cxnLst/>
              <a:rect r="r" b="b" t="t" l="l"/>
              <a:pathLst>
                <a:path h="457556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732092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ACC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7</a:t>
              </a:r>
            </a:p>
          </p:txBody>
        </p:sp>
      </p:grpSp>
      <p:sp>
        <p:nvSpPr>
          <p:cNvPr name="Freeform 67" id="67"/>
          <p:cNvSpPr/>
          <p:nvPr/>
        </p:nvSpPr>
        <p:spPr>
          <a:xfrm flipH="false" flipV="false" rot="0">
            <a:off x="9216400" y="2970733"/>
            <a:ext cx="784584" cy="784584"/>
          </a:xfrm>
          <a:custGeom>
            <a:avLst/>
            <a:gdLst/>
            <a:ahLst/>
            <a:cxnLst/>
            <a:rect r="r" b="b" t="t" l="l"/>
            <a:pathLst>
              <a:path h="784584" w="784584">
                <a:moveTo>
                  <a:pt x="0" y="0"/>
                </a:moveTo>
                <a:lnTo>
                  <a:pt x="784583" y="0"/>
                </a:lnTo>
                <a:lnTo>
                  <a:pt x="784583" y="784584"/>
                </a:lnTo>
                <a:lnTo>
                  <a:pt x="0" y="7845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8" id="68"/>
          <p:cNvGrpSpPr/>
          <p:nvPr/>
        </p:nvGrpSpPr>
        <p:grpSpPr>
          <a:xfrm rot="0">
            <a:off x="9225696" y="2980030"/>
            <a:ext cx="766029" cy="766029"/>
            <a:chOff x="0" y="0"/>
            <a:chExt cx="1021372" cy="102137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21372" cy="1021372"/>
            </a:xfrm>
            <a:custGeom>
              <a:avLst/>
              <a:gdLst/>
              <a:ahLst/>
              <a:cxnLst/>
              <a:rect r="r" b="b" t="t" l="l"/>
              <a:pathLst>
                <a:path h="1021372" w="1021372">
                  <a:moveTo>
                    <a:pt x="0" y="0"/>
                  </a:moveTo>
                  <a:lnTo>
                    <a:pt x="1021372" y="0"/>
                  </a:lnTo>
                  <a:lnTo>
                    <a:pt x="1021372" y="1021372"/>
                  </a:lnTo>
                  <a:lnTo>
                    <a:pt x="0" y="10213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1021372" cy="1021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1"/>
                </a:lnSpc>
              </a:pPr>
              <a:r>
                <a:rPr lang="en-US" sz="24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</a:t>
              </a:r>
            </a:p>
          </p:txBody>
        </p:sp>
      </p:grpSp>
      <p:sp>
        <p:nvSpPr>
          <p:cNvPr name="Freeform 71" id="71"/>
          <p:cNvSpPr/>
          <p:nvPr/>
        </p:nvSpPr>
        <p:spPr>
          <a:xfrm flipH="false" flipV="false" rot="0">
            <a:off x="11961743" y="2421665"/>
            <a:ext cx="784584" cy="784584"/>
          </a:xfrm>
          <a:custGeom>
            <a:avLst/>
            <a:gdLst/>
            <a:ahLst/>
            <a:cxnLst/>
            <a:rect r="r" b="b" t="t" l="l"/>
            <a:pathLst>
              <a:path h="784584" w="784584">
                <a:moveTo>
                  <a:pt x="0" y="0"/>
                </a:moveTo>
                <a:lnTo>
                  <a:pt x="784583" y="0"/>
                </a:lnTo>
                <a:lnTo>
                  <a:pt x="784583" y="784583"/>
                </a:lnTo>
                <a:lnTo>
                  <a:pt x="0" y="7845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2" id="72"/>
          <p:cNvGrpSpPr/>
          <p:nvPr/>
        </p:nvGrpSpPr>
        <p:grpSpPr>
          <a:xfrm rot="0">
            <a:off x="11971039" y="2430961"/>
            <a:ext cx="766029" cy="766029"/>
            <a:chOff x="0" y="0"/>
            <a:chExt cx="1021372" cy="102137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21372" cy="1021372"/>
            </a:xfrm>
            <a:custGeom>
              <a:avLst/>
              <a:gdLst/>
              <a:ahLst/>
              <a:cxnLst/>
              <a:rect r="r" b="b" t="t" l="l"/>
              <a:pathLst>
                <a:path h="1021372" w="1021372">
                  <a:moveTo>
                    <a:pt x="0" y="0"/>
                  </a:moveTo>
                  <a:lnTo>
                    <a:pt x="1021372" y="0"/>
                  </a:lnTo>
                  <a:lnTo>
                    <a:pt x="1021372" y="1021372"/>
                  </a:lnTo>
                  <a:lnTo>
                    <a:pt x="0" y="10213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1021372" cy="1021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1"/>
                </a:lnSpc>
              </a:pPr>
              <a:r>
                <a:rPr lang="en-US" sz="24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</a:t>
              </a:r>
            </a:p>
          </p:txBody>
        </p:sp>
      </p:grpSp>
      <p:sp>
        <p:nvSpPr>
          <p:cNvPr name="Freeform 75" id="75"/>
          <p:cNvSpPr/>
          <p:nvPr/>
        </p:nvSpPr>
        <p:spPr>
          <a:xfrm flipH="false" flipV="false" rot="0">
            <a:off x="14158017" y="4343410"/>
            <a:ext cx="784584" cy="784584"/>
          </a:xfrm>
          <a:custGeom>
            <a:avLst/>
            <a:gdLst/>
            <a:ahLst/>
            <a:cxnLst/>
            <a:rect r="r" b="b" t="t" l="l"/>
            <a:pathLst>
              <a:path h="784584" w="784584">
                <a:moveTo>
                  <a:pt x="0" y="0"/>
                </a:moveTo>
                <a:lnTo>
                  <a:pt x="784584" y="0"/>
                </a:lnTo>
                <a:lnTo>
                  <a:pt x="784584" y="784583"/>
                </a:lnTo>
                <a:lnTo>
                  <a:pt x="0" y="7845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6" id="76"/>
          <p:cNvGrpSpPr/>
          <p:nvPr/>
        </p:nvGrpSpPr>
        <p:grpSpPr>
          <a:xfrm rot="0">
            <a:off x="14167314" y="4352706"/>
            <a:ext cx="766029" cy="766029"/>
            <a:chOff x="0" y="0"/>
            <a:chExt cx="1021372" cy="102137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21372" cy="1021372"/>
            </a:xfrm>
            <a:custGeom>
              <a:avLst/>
              <a:gdLst/>
              <a:ahLst/>
              <a:cxnLst/>
              <a:rect r="r" b="b" t="t" l="l"/>
              <a:pathLst>
                <a:path h="1021372" w="1021372">
                  <a:moveTo>
                    <a:pt x="0" y="0"/>
                  </a:moveTo>
                  <a:lnTo>
                    <a:pt x="1021372" y="0"/>
                  </a:lnTo>
                  <a:lnTo>
                    <a:pt x="1021372" y="1021372"/>
                  </a:lnTo>
                  <a:lnTo>
                    <a:pt x="0" y="10213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1021372" cy="1021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1"/>
                </a:lnSpc>
              </a:pPr>
              <a:r>
                <a:rPr lang="en-US" sz="24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</a:t>
              </a:r>
            </a:p>
          </p:txBody>
        </p:sp>
      </p:grpSp>
      <p:sp>
        <p:nvSpPr>
          <p:cNvPr name="Freeform 79" id="79"/>
          <p:cNvSpPr/>
          <p:nvPr/>
        </p:nvSpPr>
        <p:spPr>
          <a:xfrm flipH="false" flipV="false" rot="0">
            <a:off x="11755841" y="5990615"/>
            <a:ext cx="784584" cy="784584"/>
          </a:xfrm>
          <a:custGeom>
            <a:avLst/>
            <a:gdLst/>
            <a:ahLst/>
            <a:cxnLst/>
            <a:rect r="r" b="b" t="t" l="l"/>
            <a:pathLst>
              <a:path h="784584" w="784584">
                <a:moveTo>
                  <a:pt x="0" y="0"/>
                </a:moveTo>
                <a:lnTo>
                  <a:pt x="784583" y="0"/>
                </a:lnTo>
                <a:lnTo>
                  <a:pt x="784583" y="784584"/>
                </a:lnTo>
                <a:lnTo>
                  <a:pt x="0" y="7845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0">
            <a:off x="11765137" y="5999912"/>
            <a:ext cx="766029" cy="766029"/>
            <a:chOff x="0" y="0"/>
            <a:chExt cx="1021372" cy="102137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21372" cy="1021372"/>
            </a:xfrm>
            <a:custGeom>
              <a:avLst/>
              <a:gdLst/>
              <a:ahLst/>
              <a:cxnLst/>
              <a:rect r="r" b="b" t="t" l="l"/>
              <a:pathLst>
                <a:path h="1021372" w="1021372">
                  <a:moveTo>
                    <a:pt x="0" y="0"/>
                  </a:moveTo>
                  <a:lnTo>
                    <a:pt x="1021372" y="0"/>
                  </a:lnTo>
                  <a:lnTo>
                    <a:pt x="1021372" y="1021372"/>
                  </a:lnTo>
                  <a:lnTo>
                    <a:pt x="0" y="10213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1021372" cy="1021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1"/>
                </a:lnSpc>
              </a:pPr>
              <a:r>
                <a:rPr lang="en-US" sz="24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</a:t>
              </a:r>
            </a:p>
          </p:txBody>
        </p:sp>
      </p:grpSp>
      <p:sp>
        <p:nvSpPr>
          <p:cNvPr name="Freeform 83" id="83"/>
          <p:cNvSpPr/>
          <p:nvPr/>
        </p:nvSpPr>
        <p:spPr>
          <a:xfrm flipH="false" flipV="false" rot="0">
            <a:off x="14912988" y="6814223"/>
            <a:ext cx="784584" cy="784584"/>
          </a:xfrm>
          <a:custGeom>
            <a:avLst/>
            <a:gdLst/>
            <a:ahLst/>
            <a:cxnLst/>
            <a:rect r="r" b="b" t="t" l="l"/>
            <a:pathLst>
              <a:path h="784584" w="784584">
                <a:moveTo>
                  <a:pt x="0" y="0"/>
                </a:moveTo>
                <a:lnTo>
                  <a:pt x="784583" y="0"/>
                </a:lnTo>
                <a:lnTo>
                  <a:pt x="784583" y="784584"/>
                </a:lnTo>
                <a:lnTo>
                  <a:pt x="0" y="7845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4" id="84"/>
          <p:cNvGrpSpPr/>
          <p:nvPr/>
        </p:nvGrpSpPr>
        <p:grpSpPr>
          <a:xfrm rot="0">
            <a:off x="14922284" y="6823520"/>
            <a:ext cx="766029" cy="766029"/>
            <a:chOff x="0" y="0"/>
            <a:chExt cx="1021372" cy="102137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21372" cy="1021372"/>
            </a:xfrm>
            <a:custGeom>
              <a:avLst/>
              <a:gdLst/>
              <a:ahLst/>
              <a:cxnLst/>
              <a:rect r="r" b="b" t="t" l="l"/>
              <a:pathLst>
                <a:path h="1021372" w="1021372">
                  <a:moveTo>
                    <a:pt x="0" y="0"/>
                  </a:moveTo>
                  <a:lnTo>
                    <a:pt x="1021372" y="0"/>
                  </a:lnTo>
                  <a:lnTo>
                    <a:pt x="1021372" y="1021372"/>
                  </a:lnTo>
                  <a:lnTo>
                    <a:pt x="0" y="10213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1021372" cy="1021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1"/>
                </a:lnSpc>
              </a:pPr>
              <a:r>
                <a:rPr lang="en-US" sz="24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</a:t>
              </a:r>
            </a:p>
          </p:txBody>
        </p:sp>
      </p:grpSp>
      <p:sp>
        <p:nvSpPr>
          <p:cNvPr name="TextBox 87" id="87"/>
          <p:cNvSpPr txBox="true"/>
          <p:nvPr/>
        </p:nvSpPr>
        <p:spPr>
          <a:xfrm rot="0">
            <a:off x="7535932" y="8271853"/>
            <a:ext cx="9224448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CBD5E1"/>
                </a:solidFill>
                <a:latin typeface="Aptos"/>
                <a:ea typeface="Aptos"/>
                <a:cs typeface="Aptos"/>
                <a:sym typeface="Aptos"/>
              </a:rPr>
              <a:t>Smallest weights are tested first — not every edge is accepted.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947099" y="9754333"/>
            <a:ext cx="14303331" cy="211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CBD5E1"/>
                </a:solidFill>
                <a:latin typeface="Aptos"/>
                <a:ea typeface="Aptos"/>
                <a:cs typeface="Aptos"/>
                <a:sym typeface="Aptos"/>
              </a:rPr>
              <a:t>DAA • Design &amp; Analysis of Algorithms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6732834" y="9754333"/>
            <a:ext cx="576605" cy="211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 b="true">
                <a:solidFill>
                  <a:srgbClr val="2DD4BF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7099" y="535295"/>
            <a:ext cx="16362340" cy="370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DD4BF"/>
                </a:solidFill>
                <a:latin typeface="Aptos Bold"/>
                <a:ea typeface="Aptos Bold"/>
                <a:cs typeface="Aptos Bold"/>
                <a:sym typeface="Aptos Bold"/>
              </a:rPr>
              <a:t>03 • WORKED EXAMPLE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7099" y="1084364"/>
            <a:ext cx="16362340" cy="74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Step through the edges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62835" y="1799158"/>
            <a:ext cx="16362340" cy="507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0">
                <a:solidFill>
                  <a:srgbClr val="CBD5E1"/>
                </a:solidFill>
                <a:latin typeface="Aptos"/>
                <a:ea typeface="Aptos"/>
                <a:cs typeface="Aptos"/>
                <a:sym typeface="Aptos"/>
              </a:rPr>
              <a:t>Green = accepted into the MST   •   Red = rejected because it forms a cycle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60872" y="2307136"/>
            <a:ext cx="8785098" cy="6752520"/>
            <a:chOff x="0" y="0"/>
            <a:chExt cx="11713464" cy="9003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13464" cy="9003412"/>
            </a:xfrm>
            <a:custGeom>
              <a:avLst/>
              <a:gdLst/>
              <a:ahLst/>
              <a:cxnLst/>
              <a:rect r="r" b="b" t="t" l="l"/>
              <a:pathLst>
                <a:path h="9003412" w="11713464">
                  <a:moveTo>
                    <a:pt x="0" y="1500632"/>
                  </a:moveTo>
                  <a:cubicBezTo>
                    <a:pt x="0" y="671830"/>
                    <a:pt x="628269" y="0"/>
                    <a:pt x="1403223" y="0"/>
                  </a:cubicBezTo>
                  <a:lnTo>
                    <a:pt x="10310241" y="0"/>
                  </a:lnTo>
                  <a:cubicBezTo>
                    <a:pt x="11085195" y="0"/>
                    <a:pt x="11713464" y="671830"/>
                    <a:pt x="11713464" y="1500632"/>
                  </a:cubicBezTo>
                  <a:lnTo>
                    <a:pt x="11713464" y="7502779"/>
                  </a:lnTo>
                  <a:cubicBezTo>
                    <a:pt x="11713464" y="8331454"/>
                    <a:pt x="11085195" y="9003412"/>
                    <a:pt x="10310241" y="9003412"/>
                  </a:cubicBezTo>
                  <a:lnTo>
                    <a:pt x="1403223" y="9003412"/>
                  </a:lnTo>
                  <a:cubicBezTo>
                    <a:pt x="628269" y="9003411"/>
                    <a:pt x="0" y="8331454"/>
                    <a:pt x="0" y="7502779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sp>
        <p:nvSpPr>
          <p:cNvPr name="AutoShape 7" id="7"/>
          <p:cNvSpPr/>
          <p:nvPr/>
        </p:nvSpPr>
        <p:spPr>
          <a:xfrm rot="44640">
            <a:off x="3337874" y="3055172"/>
            <a:ext cx="2932967" cy="0"/>
          </a:xfrm>
          <a:prstGeom prst="line">
            <a:avLst/>
          </a:prstGeom>
          <a:ln cap="rnd" w="28575">
            <a:solidFill>
              <a:srgbClr val="2DD4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4474912" y="2566902"/>
            <a:ext cx="604076" cy="411861"/>
            <a:chOff x="0" y="0"/>
            <a:chExt cx="805434" cy="5491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5434" cy="549148"/>
            </a:xfrm>
            <a:custGeom>
              <a:avLst/>
              <a:gdLst/>
              <a:ahLst/>
              <a:cxnLst/>
              <a:rect r="r" b="b" t="t" l="l"/>
              <a:pathLst>
                <a:path h="549148" w="8054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lnTo>
                    <a:pt x="713867" y="0"/>
                  </a:lnTo>
                  <a:cubicBezTo>
                    <a:pt x="764413" y="0"/>
                    <a:pt x="805434" y="41021"/>
                    <a:pt x="805434" y="91567"/>
                  </a:cubicBezTo>
                  <a:lnTo>
                    <a:pt x="805434" y="457581"/>
                  </a:lnTo>
                  <a:cubicBezTo>
                    <a:pt x="805434" y="508127"/>
                    <a:pt x="764413" y="549148"/>
                    <a:pt x="713867" y="549148"/>
                  </a:cubicBezTo>
                  <a:lnTo>
                    <a:pt x="91567" y="549148"/>
                  </a:lnTo>
                  <a:cubicBezTo>
                    <a:pt x="41021" y="549021"/>
                    <a:pt x="0" y="508127"/>
                    <a:pt x="0" y="457581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502363" y="2587485"/>
            <a:ext cx="549069" cy="343167"/>
            <a:chOff x="0" y="0"/>
            <a:chExt cx="732092" cy="4575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2155" cy="457581"/>
            </a:xfrm>
            <a:custGeom>
              <a:avLst/>
              <a:gdLst/>
              <a:ahLst/>
              <a:cxnLst/>
              <a:rect r="r" b="b" t="t" l="l"/>
              <a:pathLst>
                <a:path h="457581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242" t="0" r="-30234" b="5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502363" y="2587485"/>
            <a:ext cx="549069" cy="343167"/>
            <a:chOff x="0" y="0"/>
            <a:chExt cx="732092" cy="4575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2092" cy="457556"/>
            </a:xfrm>
            <a:custGeom>
              <a:avLst/>
              <a:gdLst/>
              <a:ahLst/>
              <a:cxnLst/>
              <a:rect r="r" b="b" t="t" l="l"/>
              <a:pathLst>
                <a:path h="457556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732092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ACC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rot="42660">
            <a:off x="5740327" y="3741515"/>
            <a:ext cx="3069679" cy="0"/>
          </a:xfrm>
          <a:prstGeom prst="line">
            <a:avLst/>
          </a:prstGeom>
          <a:ln cap="rnd" w="28575">
            <a:solidFill>
              <a:srgbClr val="2DD4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7220255" y="3486588"/>
            <a:ext cx="604076" cy="411861"/>
            <a:chOff x="0" y="0"/>
            <a:chExt cx="805434" cy="5491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05434" cy="549148"/>
            </a:xfrm>
            <a:custGeom>
              <a:avLst/>
              <a:gdLst/>
              <a:ahLst/>
              <a:cxnLst/>
              <a:rect r="r" b="b" t="t" l="l"/>
              <a:pathLst>
                <a:path h="549148" w="8054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lnTo>
                    <a:pt x="713867" y="0"/>
                  </a:lnTo>
                  <a:cubicBezTo>
                    <a:pt x="764413" y="0"/>
                    <a:pt x="805434" y="41021"/>
                    <a:pt x="805434" y="91567"/>
                  </a:cubicBezTo>
                  <a:lnTo>
                    <a:pt x="805434" y="457581"/>
                  </a:lnTo>
                  <a:cubicBezTo>
                    <a:pt x="805434" y="508127"/>
                    <a:pt x="764413" y="549148"/>
                    <a:pt x="713867" y="549148"/>
                  </a:cubicBezTo>
                  <a:lnTo>
                    <a:pt x="91567" y="549148"/>
                  </a:lnTo>
                  <a:cubicBezTo>
                    <a:pt x="41021" y="549021"/>
                    <a:pt x="0" y="508127"/>
                    <a:pt x="0" y="457581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247706" y="3507181"/>
            <a:ext cx="549069" cy="343167"/>
            <a:chOff x="0" y="0"/>
            <a:chExt cx="732092" cy="4575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2155" cy="457581"/>
            </a:xfrm>
            <a:custGeom>
              <a:avLst/>
              <a:gdLst/>
              <a:ahLst/>
              <a:cxnLst/>
              <a:rect r="r" b="b" t="t" l="l"/>
              <a:pathLst>
                <a:path h="457581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242" t="0" r="-30234" b="5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247706" y="3507181"/>
            <a:ext cx="549069" cy="343167"/>
            <a:chOff x="0" y="0"/>
            <a:chExt cx="732092" cy="4575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2092" cy="457556"/>
            </a:xfrm>
            <a:custGeom>
              <a:avLst/>
              <a:gdLst/>
              <a:ahLst/>
              <a:cxnLst/>
              <a:rect r="r" b="b" t="t" l="l"/>
              <a:pathLst>
                <a:path h="457556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732092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ACC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 rot="18840">
            <a:off x="3292050" y="4025570"/>
            <a:ext cx="5220881" cy="0"/>
          </a:xfrm>
          <a:prstGeom prst="line">
            <a:avLst/>
          </a:prstGeom>
          <a:ln cap="rnd" w="19050">
            <a:solidFill>
              <a:srgbClr val="F8717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5737774" y="3527765"/>
            <a:ext cx="604076" cy="411861"/>
            <a:chOff x="0" y="0"/>
            <a:chExt cx="805434" cy="54914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05434" cy="549148"/>
            </a:xfrm>
            <a:custGeom>
              <a:avLst/>
              <a:gdLst/>
              <a:ahLst/>
              <a:cxnLst/>
              <a:rect r="r" b="b" t="t" l="l"/>
              <a:pathLst>
                <a:path h="549148" w="8054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lnTo>
                    <a:pt x="713867" y="0"/>
                  </a:lnTo>
                  <a:cubicBezTo>
                    <a:pt x="764413" y="0"/>
                    <a:pt x="805434" y="41021"/>
                    <a:pt x="805434" y="91567"/>
                  </a:cubicBezTo>
                  <a:lnTo>
                    <a:pt x="805434" y="457581"/>
                  </a:lnTo>
                  <a:cubicBezTo>
                    <a:pt x="805434" y="508127"/>
                    <a:pt x="764413" y="549148"/>
                    <a:pt x="713867" y="549148"/>
                  </a:cubicBezTo>
                  <a:lnTo>
                    <a:pt x="91567" y="549148"/>
                  </a:lnTo>
                  <a:cubicBezTo>
                    <a:pt x="41021" y="549021"/>
                    <a:pt x="0" y="508127"/>
                    <a:pt x="0" y="457581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765225" y="3548358"/>
            <a:ext cx="549069" cy="343167"/>
            <a:chOff x="0" y="0"/>
            <a:chExt cx="732092" cy="4575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2155" cy="457581"/>
            </a:xfrm>
            <a:custGeom>
              <a:avLst/>
              <a:gdLst/>
              <a:ahLst/>
              <a:cxnLst/>
              <a:rect r="r" b="b" t="t" l="l"/>
              <a:pathLst>
                <a:path h="457581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242" t="0" r="-30234" b="5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765225" y="3548358"/>
            <a:ext cx="549069" cy="343167"/>
            <a:chOff x="0" y="0"/>
            <a:chExt cx="732092" cy="45755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2092" cy="457556"/>
            </a:xfrm>
            <a:custGeom>
              <a:avLst/>
              <a:gdLst/>
              <a:ahLst/>
              <a:cxnLst/>
              <a:rect r="r" b="b" t="t" l="l"/>
              <a:pathLst>
                <a:path h="457556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732092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87171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 rot="18060">
            <a:off x="4260914" y="4579401"/>
            <a:ext cx="3626310" cy="0"/>
          </a:xfrm>
          <a:prstGeom prst="line">
            <a:avLst/>
          </a:prstGeom>
          <a:ln cap="rnd" w="19050">
            <a:solidFill>
              <a:srgbClr val="CBD5E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5470103" y="4378823"/>
            <a:ext cx="604076" cy="411861"/>
            <a:chOff x="0" y="0"/>
            <a:chExt cx="805434" cy="54914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05434" cy="549148"/>
            </a:xfrm>
            <a:custGeom>
              <a:avLst/>
              <a:gdLst/>
              <a:ahLst/>
              <a:cxnLst/>
              <a:rect r="r" b="b" t="t" l="l"/>
              <a:pathLst>
                <a:path h="549148" w="8054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lnTo>
                    <a:pt x="713867" y="0"/>
                  </a:lnTo>
                  <a:cubicBezTo>
                    <a:pt x="764413" y="0"/>
                    <a:pt x="805434" y="41021"/>
                    <a:pt x="805434" y="91567"/>
                  </a:cubicBezTo>
                  <a:lnTo>
                    <a:pt x="805434" y="457581"/>
                  </a:lnTo>
                  <a:cubicBezTo>
                    <a:pt x="805434" y="508127"/>
                    <a:pt x="764413" y="549148"/>
                    <a:pt x="713867" y="549148"/>
                  </a:cubicBezTo>
                  <a:lnTo>
                    <a:pt x="91567" y="549148"/>
                  </a:lnTo>
                  <a:cubicBezTo>
                    <a:pt x="41021" y="549021"/>
                    <a:pt x="0" y="508127"/>
                    <a:pt x="0" y="457581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497554" y="4399417"/>
            <a:ext cx="549069" cy="343167"/>
            <a:chOff x="0" y="0"/>
            <a:chExt cx="732092" cy="45755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32155" cy="457581"/>
            </a:xfrm>
            <a:custGeom>
              <a:avLst/>
              <a:gdLst/>
              <a:ahLst/>
              <a:cxnLst/>
              <a:rect r="r" b="b" t="t" l="l"/>
              <a:pathLst>
                <a:path h="457581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242" t="0" r="-30234" b="5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5497554" y="4399417"/>
            <a:ext cx="549069" cy="343167"/>
            <a:chOff x="0" y="0"/>
            <a:chExt cx="732092" cy="4575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32092" cy="457556"/>
            </a:xfrm>
            <a:custGeom>
              <a:avLst/>
              <a:gdLst/>
              <a:ahLst/>
              <a:cxnLst/>
              <a:rect r="r" b="b" t="t" l="l"/>
              <a:pathLst>
                <a:path h="457556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732092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ACC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rot="22020">
            <a:off x="5685111" y="5540273"/>
            <a:ext cx="2974210" cy="0"/>
          </a:xfrm>
          <a:prstGeom prst="line">
            <a:avLst/>
          </a:prstGeom>
          <a:ln cap="rnd" w="19050">
            <a:solidFill>
              <a:srgbClr val="CBD5E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7076122" y="5339696"/>
            <a:ext cx="604076" cy="411861"/>
            <a:chOff x="0" y="0"/>
            <a:chExt cx="805434" cy="54914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05434" cy="549148"/>
            </a:xfrm>
            <a:custGeom>
              <a:avLst/>
              <a:gdLst/>
              <a:ahLst/>
              <a:cxnLst/>
              <a:rect r="r" b="b" t="t" l="l"/>
              <a:pathLst>
                <a:path h="549148" w="8054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lnTo>
                    <a:pt x="713867" y="0"/>
                  </a:lnTo>
                  <a:cubicBezTo>
                    <a:pt x="764413" y="0"/>
                    <a:pt x="805434" y="41021"/>
                    <a:pt x="805434" y="91567"/>
                  </a:cubicBezTo>
                  <a:lnTo>
                    <a:pt x="805434" y="457581"/>
                  </a:lnTo>
                  <a:cubicBezTo>
                    <a:pt x="805434" y="508127"/>
                    <a:pt x="764413" y="549148"/>
                    <a:pt x="713867" y="549148"/>
                  </a:cubicBezTo>
                  <a:lnTo>
                    <a:pt x="91567" y="549148"/>
                  </a:lnTo>
                  <a:cubicBezTo>
                    <a:pt x="41021" y="549021"/>
                    <a:pt x="0" y="508127"/>
                    <a:pt x="0" y="457581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103583" y="5360289"/>
            <a:ext cx="549069" cy="343167"/>
            <a:chOff x="0" y="0"/>
            <a:chExt cx="732092" cy="45755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32155" cy="457581"/>
            </a:xfrm>
            <a:custGeom>
              <a:avLst/>
              <a:gdLst/>
              <a:ahLst/>
              <a:cxnLst/>
              <a:rect r="r" b="b" t="t" l="l"/>
              <a:pathLst>
                <a:path h="457581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242" t="0" r="-30234" b="5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103583" y="5360289"/>
            <a:ext cx="549069" cy="343167"/>
            <a:chOff x="0" y="0"/>
            <a:chExt cx="732092" cy="45755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32092" cy="457556"/>
            </a:xfrm>
            <a:custGeom>
              <a:avLst/>
              <a:gdLst/>
              <a:ahLst/>
              <a:cxnLst/>
              <a:rect r="r" b="b" t="t" l="l"/>
              <a:pathLst>
                <a:path h="457556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732092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ACC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</p:txBody>
        </p:sp>
      </p:grpSp>
      <p:sp>
        <p:nvSpPr>
          <p:cNvPr name="AutoShape 47" id="47"/>
          <p:cNvSpPr/>
          <p:nvPr/>
        </p:nvSpPr>
        <p:spPr>
          <a:xfrm rot="24780">
            <a:off x="7430348" y="5952077"/>
            <a:ext cx="2640863" cy="0"/>
          </a:xfrm>
          <a:prstGeom prst="line">
            <a:avLst/>
          </a:prstGeom>
          <a:ln cap="rnd" w="19050">
            <a:solidFill>
              <a:srgbClr val="CBD5E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8" id="48"/>
          <p:cNvGrpSpPr/>
          <p:nvPr/>
        </p:nvGrpSpPr>
        <p:grpSpPr>
          <a:xfrm rot="0">
            <a:off x="8723328" y="5751500"/>
            <a:ext cx="604076" cy="411861"/>
            <a:chOff x="0" y="0"/>
            <a:chExt cx="805434" cy="54914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05434" cy="549148"/>
            </a:xfrm>
            <a:custGeom>
              <a:avLst/>
              <a:gdLst/>
              <a:ahLst/>
              <a:cxnLst/>
              <a:rect r="r" b="b" t="t" l="l"/>
              <a:pathLst>
                <a:path h="549148" w="8054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lnTo>
                    <a:pt x="713867" y="0"/>
                  </a:lnTo>
                  <a:cubicBezTo>
                    <a:pt x="764413" y="0"/>
                    <a:pt x="805434" y="41021"/>
                    <a:pt x="805434" y="91567"/>
                  </a:cubicBezTo>
                  <a:lnTo>
                    <a:pt x="805434" y="457581"/>
                  </a:lnTo>
                  <a:cubicBezTo>
                    <a:pt x="805434" y="508127"/>
                    <a:pt x="764413" y="549148"/>
                    <a:pt x="713867" y="549148"/>
                  </a:cubicBezTo>
                  <a:lnTo>
                    <a:pt x="91567" y="549148"/>
                  </a:lnTo>
                  <a:cubicBezTo>
                    <a:pt x="41021" y="549021"/>
                    <a:pt x="0" y="508127"/>
                    <a:pt x="0" y="457581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750789" y="5772083"/>
            <a:ext cx="549069" cy="343167"/>
            <a:chOff x="0" y="0"/>
            <a:chExt cx="732092" cy="45755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32155" cy="457581"/>
            </a:xfrm>
            <a:custGeom>
              <a:avLst/>
              <a:gdLst/>
              <a:ahLst/>
              <a:cxnLst/>
              <a:rect r="r" b="b" t="t" l="l"/>
              <a:pathLst>
                <a:path h="457581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242" t="0" r="-30234" b="5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8750789" y="5772083"/>
            <a:ext cx="549069" cy="343167"/>
            <a:chOff x="0" y="0"/>
            <a:chExt cx="732092" cy="45755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32092" cy="457556"/>
            </a:xfrm>
            <a:custGeom>
              <a:avLst/>
              <a:gdLst/>
              <a:ahLst/>
              <a:cxnLst/>
              <a:rect r="r" b="b" t="t" l="l"/>
              <a:pathLst>
                <a:path h="457556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732092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ACC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6</a:t>
              </a:r>
            </a:p>
          </p:txBody>
        </p:sp>
      </p:grpSp>
      <p:sp>
        <p:nvSpPr>
          <p:cNvPr name="AutoShape 55" id="55"/>
          <p:cNvSpPr/>
          <p:nvPr/>
        </p:nvSpPr>
        <p:spPr>
          <a:xfrm rot="19740">
            <a:off x="5890098" y="6775675"/>
            <a:ext cx="3319196" cy="0"/>
          </a:xfrm>
          <a:prstGeom prst="line">
            <a:avLst/>
          </a:prstGeom>
          <a:ln cap="rnd" w="19050">
            <a:solidFill>
              <a:srgbClr val="CBD5E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6" id="56"/>
          <p:cNvGrpSpPr/>
          <p:nvPr/>
        </p:nvGrpSpPr>
        <p:grpSpPr>
          <a:xfrm rot="0">
            <a:off x="7275166" y="6822186"/>
            <a:ext cx="604076" cy="411861"/>
            <a:chOff x="0" y="0"/>
            <a:chExt cx="805434" cy="54914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05434" cy="549148"/>
            </a:xfrm>
            <a:custGeom>
              <a:avLst/>
              <a:gdLst/>
              <a:ahLst/>
              <a:cxnLst/>
              <a:rect r="r" b="b" t="t" l="l"/>
              <a:pathLst>
                <a:path h="549148" w="8054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lnTo>
                    <a:pt x="713867" y="0"/>
                  </a:lnTo>
                  <a:cubicBezTo>
                    <a:pt x="764413" y="0"/>
                    <a:pt x="805434" y="41021"/>
                    <a:pt x="805434" y="91567"/>
                  </a:cubicBezTo>
                  <a:lnTo>
                    <a:pt x="805434" y="457581"/>
                  </a:lnTo>
                  <a:cubicBezTo>
                    <a:pt x="805434" y="508127"/>
                    <a:pt x="764413" y="549148"/>
                    <a:pt x="713867" y="549148"/>
                  </a:cubicBezTo>
                  <a:lnTo>
                    <a:pt x="91567" y="549148"/>
                  </a:lnTo>
                  <a:cubicBezTo>
                    <a:pt x="41021" y="549021"/>
                    <a:pt x="0" y="508127"/>
                    <a:pt x="0" y="457581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7302617" y="6842770"/>
            <a:ext cx="549069" cy="343167"/>
            <a:chOff x="0" y="0"/>
            <a:chExt cx="732092" cy="45755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32155" cy="457581"/>
            </a:xfrm>
            <a:custGeom>
              <a:avLst/>
              <a:gdLst/>
              <a:ahLst/>
              <a:cxnLst/>
              <a:rect r="r" b="b" t="t" l="l"/>
              <a:pathLst>
                <a:path h="457581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242" t="0" r="-30234" b="5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7302617" y="6842770"/>
            <a:ext cx="549069" cy="343167"/>
            <a:chOff x="0" y="0"/>
            <a:chExt cx="732092" cy="45755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32092" cy="457556"/>
            </a:xfrm>
            <a:custGeom>
              <a:avLst/>
              <a:gdLst/>
              <a:ahLst/>
              <a:cxnLst/>
              <a:rect r="r" b="b" t="t" l="l"/>
              <a:pathLst>
                <a:path h="457556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732092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ACC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7</a:t>
              </a: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3039370" y="2970733"/>
            <a:ext cx="784584" cy="784584"/>
          </a:xfrm>
          <a:custGeom>
            <a:avLst/>
            <a:gdLst/>
            <a:ahLst/>
            <a:cxnLst/>
            <a:rect r="r" b="b" t="t" l="l"/>
            <a:pathLst>
              <a:path h="784584" w="784584">
                <a:moveTo>
                  <a:pt x="0" y="0"/>
                </a:moveTo>
                <a:lnTo>
                  <a:pt x="784584" y="0"/>
                </a:lnTo>
                <a:lnTo>
                  <a:pt x="784584" y="784584"/>
                </a:lnTo>
                <a:lnTo>
                  <a:pt x="0" y="7845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3048667" y="2980030"/>
            <a:ext cx="766029" cy="766029"/>
            <a:chOff x="0" y="0"/>
            <a:chExt cx="1021372" cy="102137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21372" cy="1021372"/>
            </a:xfrm>
            <a:custGeom>
              <a:avLst/>
              <a:gdLst/>
              <a:ahLst/>
              <a:cxnLst/>
              <a:rect r="r" b="b" t="t" l="l"/>
              <a:pathLst>
                <a:path h="1021372" w="1021372">
                  <a:moveTo>
                    <a:pt x="0" y="0"/>
                  </a:moveTo>
                  <a:lnTo>
                    <a:pt x="1021372" y="0"/>
                  </a:lnTo>
                  <a:lnTo>
                    <a:pt x="1021372" y="1021372"/>
                  </a:lnTo>
                  <a:lnTo>
                    <a:pt x="0" y="10213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1021372" cy="1021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1"/>
                </a:lnSpc>
              </a:pPr>
              <a:r>
                <a:rPr lang="en-US" sz="24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</a:t>
              </a:r>
            </a:p>
          </p:txBody>
        </p:sp>
      </p:grpSp>
      <p:sp>
        <p:nvSpPr>
          <p:cNvPr name="Freeform 67" id="67"/>
          <p:cNvSpPr/>
          <p:nvPr/>
        </p:nvSpPr>
        <p:spPr>
          <a:xfrm flipH="false" flipV="false" rot="0">
            <a:off x="5784713" y="2421665"/>
            <a:ext cx="784584" cy="784584"/>
          </a:xfrm>
          <a:custGeom>
            <a:avLst/>
            <a:gdLst/>
            <a:ahLst/>
            <a:cxnLst/>
            <a:rect r="r" b="b" t="t" l="l"/>
            <a:pathLst>
              <a:path h="784584" w="784584">
                <a:moveTo>
                  <a:pt x="0" y="0"/>
                </a:moveTo>
                <a:lnTo>
                  <a:pt x="784584" y="0"/>
                </a:lnTo>
                <a:lnTo>
                  <a:pt x="784584" y="784583"/>
                </a:lnTo>
                <a:lnTo>
                  <a:pt x="0" y="7845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8" id="68"/>
          <p:cNvGrpSpPr/>
          <p:nvPr/>
        </p:nvGrpSpPr>
        <p:grpSpPr>
          <a:xfrm rot="0">
            <a:off x="5794010" y="2430961"/>
            <a:ext cx="766029" cy="766029"/>
            <a:chOff x="0" y="0"/>
            <a:chExt cx="1021372" cy="102137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21372" cy="1021372"/>
            </a:xfrm>
            <a:custGeom>
              <a:avLst/>
              <a:gdLst/>
              <a:ahLst/>
              <a:cxnLst/>
              <a:rect r="r" b="b" t="t" l="l"/>
              <a:pathLst>
                <a:path h="1021372" w="1021372">
                  <a:moveTo>
                    <a:pt x="0" y="0"/>
                  </a:moveTo>
                  <a:lnTo>
                    <a:pt x="1021372" y="0"/>
                  </a:lnTo>
                  <a:lnTo>
                    <a:pt x="1021372" y="1021372"/>
                  </a:lnTo>
                  <a:lnTo>
                    <a:pt x="0" y="10213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1021372" cy="1021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1"/>
                </a:lnSpc>
              </a:pPr>
              <a:r>
                <a:rPr lang="en-US" sz="24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</a:t>
              </a:r>
            </a:p>
          </p:txBody>
        </p:sp>
      </p:grpSp>
      <p:sp>
        <p:nvSpPr>
          <p:cNvPr name="Freeform 71" id="71"/>
          <p:cNvSpPr/>
          <p:nvPr/>
        </p:nvSpPr>
        <p:spPr>
          <a:xfrm flipH="false" flipV="false" rot="0">
            <a:off x="7980988" y="4343410"/>
            <a:ext cx="784584" cy="784584"/>
          </a:xfrm>
          <a:custGeom>
            <a:avLst/>
            <a:gdLst/>
            <a:ahLst/>
            <a:cxnLst/>
            <a:rect r="r" b="b" t="t" l="l"/>
            <a:pathLst>
              <a:path h="784584" w="784584">
                <a:moveTo>
                  <a:pt x="0" y="0"/>
                </a:moveTo>
                <a:lnTo>
                  <a:pt x="784584" y="0"/>
                </a:lnTo>
                <a:lnTo>
                  <a:pt x="784584" y="784583"/>
                </a:lnTo>
                <a:lnTo>
                  <a:pt x="0" y="7845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2" id="72"/>
          <p:cNvGrpSpPr/>
          <p:nvPr/>
        </p:nvGrpSpPr>
        <p:grpSpPr>
          <a:xfrm rot="0">
            <a:off x="7990284" y="4352706"/>
            <a:ext cx="766029" cy="766029"/>
            <a:chOff x="0" y="0"/>
            <a:chExt cx="1021372" cy="102137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21372" cy="1021372"/>
            </a:xfrm>
            <a:custGeom>
              <a:avLst/>
              <a:gdLst/>
              <a:ahLst/>
              <a:cxnLst/>
              <a:rect r="r" b="b" t="t" l="l"/>
              <a:pathLst>
                <a:path h="1021372" w="1021372">
                  <a:moveTo>
                    <a:pt x="0" y="0"/>
                  </a:moveTo>
                  <a:lnTo>
                    <a:pt x="1021372" y="0"/>
                  </a:lnTo>
                  <a:lnTo>
                    <a:pt x="1021372" y="1021372"/>
                  </a:lnTo>
                  <a:lnTo>
                    <a:pt x="0" y="10213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1021372" cy="1021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1"/>
                </a:lnSpc>
              </a:pPr>
              <a:r>
                <a:rPr lang="en-US" sz="24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</a:t>
              </a:r>
            </a:p>
          </p:txBody>
        </p:sp>
      </p:grpSp>
      <p:sp>
        <p:nvSpPr>
          <p:cNvPr name="Freeform 75" id="75"/>
          <p:cNvSpPr/>
          <p:nvPr/>
        </p:nvSpPr>
        <p:spPr>
          <a:xfrm flipH="false" flipV="false" rot="0">
            <a:off x="5578812" y="5990615"/>
            <a:ext cx="784584" cy="784584"/>
          </a:xfrm>
          <a:custGeom>
            <a:avLst/>
            <a:gdLst/>
            <a:ahLst/>
            <a:cxnLst/>
            <a:rect r="r" b="b" t="t" l="l"/>
            <a:pathLst>
              <a:path h="784584" w="784584">
                <a:moveTo>
                  <a:pt x="0" y="0"/>
                </a:moveTo>
                <a:lnTo>
                  <a:pt x="784583" y="0"/>
                </a:lnTo>
                <a:lnTo>
                  <a:pt x="784583" y="784584"/>
                </a:lnTo>
                <a:lnTo>
                  <a:pt x="0" y="7845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6" id="76"/>
          <p:cNvGrpSpPr/>
          <p:nvPr/>
        </p:nvGrpSpPr>
        <p:grpSpPr>
          <a:xfrm rot="0">
            <a:off x="5588108" y="5999912"/>
            <a:ext cx="766029" cy="766029"/>
            <a:chOff x="0" y="0"/>
            <a:chExt cx="1021372" cy="102137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21372" cy="1021372"/>
            </a:xfrm>
            <a:custGeom>
              <a:avLst/>
              <a:gdLst/>
              <a:ahLst/>
              <a:cxnLst/>
              <a:rect r="r" b="b" t="t" l="l"/>
              <a:pathLst>
                <a:path h="1021372" w="1021372">
                  <a:moveTo>
                    <a:pt x="0" y="0"/>
                  </a:moveTo>
                  <a:lnTo>
                    <a:pt x="1021372" y="0"/>
                  </a:lnTo>
                  <a:lnTo>
                    <a:pt x="1021372" y="1021372"/>
                  </a:lnTo>
                  <a:lnTo>
                    <a:pt x="0" y="10213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1021372" cy="1021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1"/>
                </a:lnSpc>
              </a:pPr>
              <a:r>
                <a:rPr lang="en-US" sz="24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</a:t>
              </a:r>
            </a:p>
          </p:txBody>
        </p:sp>
      </p:grpSp>
      <p:sp>
        <p:nvSpPr>
          <p:cNvPr name="Freeform 79" id="79"/>
          <p:cNvSpPr/>
          <p:nvPr/>
        </p:nvSpPr>
        <p:spPr>
          <a:xfrm flipH="false" flipV="false" rot="0">
            <a:off x="8735959" y="6814223"/>
            <a:ext cx="784584" cy="784584"/>
          </a:xfrm>
          <a:custGeom>
            <a:avLst/>
            <a:gdLst/>
            <a:ahLst/>
            <a:cxnLst/>
            <a:rect r="r" b="b" t="t" l="l"/>
            <a:pathLst>
              <a:path h="784584" w="784584">
                <a:moveTo>
                  <a:pt x="0" y="0"/>
                </a:moveTo>
                <a:lnTo>
                  <a:pt x="784583" y="0"/>
                </a:lnTo>
                <a:lnTo>
                  <a:pt x="784583" y="784584"/>
                </a:lnTo>
                <a:lnTo>
                  <a:pt x="0" y="7845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0">
            <a:off x="8745255" y="6823520"/>
            <a:ext cx="766029" cy="766029"/>
            <a:chOff x="0" y="0"/>
            <a:chExt cx="1021372" cy="102137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21372" cy="1021372"/>
            </a:xfrm>
            <a:custGeom>
              <a:avLst/>
              <a:gdLst/>
              <a:ahLst/>
              <a:cxnLst/>
              <a:rect r="r" b="b" t="t" l="l"/>
              <a:pathLst>
                <a:path h="1021372" w="1021372">
                  <a:moveTo>
                    <a:pt x="0" y="0"/>
                  </a:moveTo>
                  <a:lnTo>
                    <a:pt x="1021372" y="0"/>
                  </a:lnTo>
                  <a:lnTo>
                    <a:pt x="1021372" y="1021372"/>
                  </a:lnTo>
                  <a:lnTo>
                    <a:pt x="0" y="10213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1021372" cy="1021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1"/>
                </a:lnSpc>
              </a:pPr>
              <a:r>
                <a:rPr lang="en-US" sz="24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0226411" y="2745343"/>
            <a:ext cx="7000684" cy="6314313"/>
            <a:chOff x="0" y="0"/>
            <a:chExt cx="9334246" cy="841908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334246" cy="8419084"/>
            </a:xfrm>
            <a:custGeom>
              <a:avLst/>
              <a:gdLst/>
              <a:ahLst/>
              <a:cxnLst/>
              <a:rect r="r" b="b" t="t" l="l"/>
              <a:pathLst>
                <a:path h="8419084" w="9334246">
                  <a:moveTo>
                    <a:pt x="0" y="1403223"/>
                  </a:moveTo>
                  <a:cubicBezTo>
                    <a:pt x="0" y="628269"/>
                    <a:pt x="628269" y="0"/>
                    <a:pt x="1403223" y="0"/>
                  </a:cubicBezTo>
                  <a:lnTo>
                    <a:pt x="7931023" y="0"/>
                  </a:lnTo>
                  <a:cubicBezTo>
                    <a:pt x="8705977" y="0"/>
                    <a:pt x="9334246" y="628269"/>
                    <a:pt x="9334246" y="1403223"/>
                  </a:cubicBezTo>
                  <a:lnTo>
                    <a:pt x="9334246" y="7015861"/>
                  </a:lnTo>
                  <a:cubicBezTo>
                    <a:pt x="9334246" y="7790815"/>
                    <a:pt x="8705977" y="8419084"/>
                    <a:pt x="7931023" y="8419084"/>
                  </a:cubicBezTo>
                  <a:lnTo>
                    <a:pt x="1403223" y="8419084"/>
                  </a:lnTo>
                  <a:cubicBezTo>
                    <a:pt x="628269" y="8419084"/>
                    <a:pt x="0" y="7790815"/>
                    <a:pt x="0" y="7015861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sp>
        <p:nvSpPr>
          <p:cNvPr name="TextBox 85" id="85"/>
          <p:cNvSpPr txBox="true"/>
          <p:nvPr/>
        </p:nvSpPr>
        <p:spPr>
          <a:xfrm rot="0">
            <a:off x="10779995" y="3280648"/>
            <a:ext cx="5980376" cy="5261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sz="2550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1. AB (1) → accept</a:t>
            </a:r>
          </a:p>
          <a:p>
            <a:pPr algn="l">
              <a:lnSpc>
                <a:spcPts val="3061"/>
              </a:lnSpc>
            </a:pPr>
            <a:r>
              <a:rPr lang="en-US" sz="2550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2. BC (2) → accept</a:t>
            </a:r>
          </a:p>
          <a:p>
            <a:pPr algn="l">
              <a:lnSpc>
                <a:spcPts val="3061"/>
              </a:lnSpc>
            </a:pPr>
            <a:r>
              <a:rPr lang="en-US" sz="2550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3. AC (3) → reject</a:t>
            </a:r>
          </a:p>
          <a:p>
            <a:pPr algn="l">
              <a:lnSpc>
                <a:spcPts val="3061"/>
              </a:lnSpc>
            </a:pPr>
            <a:r>
              <a:rPr lang="en-US" sz="2550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   A, B and C already connect;</a:t>
            </a:r>
          </a:p>
          <a:p>
            <a:pPr algn="l">
              <a:lnSpc>
                <a:spcPts val="3061"/>
              </a:lnSpc>
            </a:pPr>
            <a:r>
              <a:rPr lang="en-US" sz="2550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   AC would create a cycle.</a:t>
            </a:r>
          </a:p>
          <a:p>
            <a:pPr algn="l">
              <a:lnSpc>
                <a:spcPts val="3061"/>
              </a:lnSpc>
            </a:pPr>
          </a:p>
          <a:p>
            <a:pPr algn="l">
              <a:lnSpc>
                <a:spcPts val="3061"/>
              </a:lnSpc>
            </a:pPr>
            <a:r>
              <a:rPr lang="en-US" sz="2550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Accepted so far: AB, BC</a:t>
            </a:r>
          </a:p>
          <a:p>
            <a:pPr algn="l">
              <a:lnSpc>
                <a:spcPts val="3061"/>
              </a:lnSpc>
            </a:pPr>
            <a:r>
              <a:rPr lang="en-US" sz="2550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Current total = 1 + 2 = 3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947099" y="9754333"/>
            <a:ext cx="14303331" cy="211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CBD5E1"/>
                </a:solidFill>
                <a:latin typeface="Aptos"/>
                <a:ea typeface="Aptos"/>
                <a:cs typeface="Aptos"/>
                <a:sym typeface="Aptos"/>
              </a:rPr>
              <a:t>DAA • Design &amp; Analysis of Algorithms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6732834" y="9754333"/>
            <a:ext cx="576605" cy="211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 b="true">
                <a:solidFill>
                  <a:srgbClr val="2DD4BF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7099" y="535295"/>
            <a:ext cx="16362340" cy="370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DD4BF"/>
                </a:solidFill>
                <a:latin typeface="Aptos Bold"/>
                <a:ea typeface="Aptos Bold"/>
                <a:cs typeface="Aptos Bold"/>
                <a:sym typeface="Aptos Bold"/>
              </a:rPr>
              <a:t>04 • FINISH THE TREE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7099" y="1084364"/>
            <a:ext cx="16362340" cy="74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Stop when 4 edges connect 5 vertices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87133" y="1799158"/>
            <a:ext cx="16362340" cy="507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0">
                <a:solidFill>
                  <a:srgbClr val="CBD5E1"/>
                </a:solidFill>
                <a:latin typeface="Aptos"/>
                <a:ea typeface="Aptos"/>
                <a:cs typeface="Aptos"/>
                <a:sym typeface="Aptos"/>
              </a:rPr>
              <a:t>A spanning tree with V vertices has exactly V − 1 edges.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60872" y="2307136"/>
            <a:ext cx="8785098" cy="6752520"/>
            <a:chOff x="0" y="0"/>
            <a:chExt cx="11713464" cy="9003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13464" cy="9003412"/>
            </a:xfrm>
            <a:custGeom>
              <a:avLst/>
              <a:gdLst/>
              <a:ahLst/>
              <a:cxnLst/>
              <a:rect r="r" b="b" t="t" l="l"/>
              <a:pathLst>
                <a:path h="9003412" w="11713464">
                  <a:moveTo>
                    <a:pt x="0" y="1500632"/>
                  </a:moveTo>
                  <a:cubicBezTo>
                    <a:pt x="0" y="671830"/>
                    <a:pt x="628269" y="0"/>
                    <a:pt x="1403223" y="0"/>
                  </a:cubicBezTo>
                  <a:lnTo>
                    <a:pt x="10310241" y="0"/>
                  </a:lnTo>
                  <a:cubicBezTo>
                    <a:pt x="11085195" y="0"/>
                    <a:pt x="11713464" y="671830"/>
                    <a:pt x="11713464" y="1500632"/>
                  </a:cubicBezTo>
                  <a:lnTo>
                    <a:pt x="11713464" y="7502779"/>
                  </a:lnTo>
                  <a:cubicBezTo>
                    <a:pt x="11713464" y="8331454"/>
                    <a:pt x="11085195" y="9003412"/>
                    <a:pt x="10310241" y="9003412"/>
                  </a:cubicBezTo>
                  <a:lnTo>
                    <a:pt x="1403223" y="9003412"/>
                  </a:lnTo>
                  <a:cubicBezTo>
                    <a:pt x="628269" y="9003411"/>
                    <a:pt x="0" y="8331454"/>
                    <a:pt x="0" y="7502779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sp>
        <p:nvSpPr>
          <p:cNvPr name="AutoShape 7" id="7"/>
          <p:cNvSpPr/>
          <p:nvPr/>
        </p:nvSpPr>
        <p:spPr>
          <a:xfrm rot="44640">
            <a:off x="3337874" y="3055172"/>
            <a:ext cx="2932967" cy="0"/>
          </a:xfrm>
          <a:prstGeom prst="line">
            <a:avLst/>
          </a:prstGeom>
          <a:ln cap="rnd" w="28575">
            <a:solidFill>
              <a:srgbClr val="2DD4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4474912" y="2566902"/>
            <a:ext cx="604076" cy="411861"/>
            <a:chOff x="0" y="0"/>
            <a:chExt cx="805434" cy="5491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5434" cy="549148"/>
            </a:xfrm>
            <a:custGeom>
              <a:avLst/>
              <a:gdLst/>
              <a:ahLst/>
              <a:cxnLst/>
              <a:rect r="r" b="b" t="t" l="l"/>
              <a:pathLst>
                <a:path h="549148" w="8054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lnTo>
                    <a:pt x="713867" y="0"/>
                  </a:lnTo>
                  <a:cubicBezTo>
                    <a:pt x="764413" y="0"/>
                    <a:pt x="805434" y="41021"/>
                    <a:pt x="805434" y="91567"/>
                  </a:cubicBezTo>
                  <a:lnTo>
                    <a:pt x="805434" y="457581"/>
                  </a:lnTo>
                  <a:cubicBezTo>
                    <a:pt x="805434" y="508127"/>
                    <a:pt x="764413" y="549148"/>
                    <a:pt x="713867" y="549148"/>
                  </a:cubicBezTo>
                  <a:lnTo>
                    <a:pt x="91567" y="549148"/>
                  </a:lnTo>
                  <a:cubicBezTo>
                    <a:pt x="41021" y="549021"/>
                    <a:pt x="0" y="508127"/>
                    <a:pt x="0" y="457581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502363" y="2587485"/>
            <a:ext cx="549069" cy="343167"/>
            <a:chOff x="0" y="0"/>
            <a:chExt cx="732092" cy="4575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2155" cy="457581"/>
            </a:xfrm>
            <a:custGeom>
              <a:avLst/>
              <a:gdLst/>
              <a:ahLst/>
              <a:cxnLst/>
              <a:rect r="r" b="b" t="t" l="l"/>
              <a:pathLst>
                <a:path h="457581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242" t="0" r="-30234" b="5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502363" y="2587485"/>
            <a:ext cx="549069" cy="343167"/>
            <a:chOff x="0" y="0"/>
            <a:chExt cx="732092" cy="4575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2092" cy="457556"/>
            </a:xfrm>
            <a:custGeom>
              <a:avLst/>
              <a:gdLst/>
              <a:ahLst/>
              <a:cxnLst/>
              <a:rect r="r" b="b" t="t" l="l"/>
              <a:pathLst>
                <a:path h="457556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732092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ACC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rot="42660">
            <a:off x="5740327" y="3741515"/>
            <a:ext cx="3069679" cy="0"/>
          </a:xfrm>
          <a:prstGeom prst="line">
            <a:avLst/>
          </a:prstGeom>
          <a:ln cap="rnd" w="28575">
            <a:solidFill>
              <a:srgbClr val="2DD4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7220255" y="3486588"/>
            <a:ext cx="604076" cy="411861"/>
            <a:chOff x="0" y="0"/>
            <a:chExt cx="805434" cy="5491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05434" cy="549148"/>
            </a:xfrm>
            <a:custGeom>
              <a:avLst/>
              <a:gdLst/>
              <a:ahLst/>
              <a:cxnLst/>
              <a:rect r="r" b="b" t="t" l="l"/>
              <a:pathLst>
                <a:path h="549148" w="8054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lnTo>
                    <a:pt x="713867" y="0"/>
                  </a:lnTo>
                  <a:cubicBezTo>
                    <a:pt x="764413" y="0"/>
                    <a:pt x="805434" y="41021"/>
                    <a:pt x="805434" y="91567"/>
                  </a:cubicBezTo>
                  <a:lnTo>
                    <a:pt x="805434" y="457581"/>
                  </a:lnTo>
                  <a:cubicBezTo>
                    <a:pt x="805434" y="508127"/>
                    <a:pt x="764413" y="549148"/>
                    <a:pt x="713867" y="549148"/>
                  </a:cubicBezTo>
                  <a:lnTo>
                    <a:pt x="91567" y="549148"/>
                  </a:lnTo>
                  <a:cubicBezTo>
                    <a:pt x="41021" y="549021"/>
                    <a:pt x="0" y="508127"/>
                    <a:pt x="0" y="457581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247706" y="3507181"/>
            <a:ext cx="549069" cy="343167"/>
            <a:chOff x="0" y="0"/>
            <a:chExt cx="732092" cy="4575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2155" cy="457581"/>
            </a:xfrm>
            <a:custGeom>
              <a:avLst/>
              <a:gdLst/>
              <a:ahLst/>
              <a:cxnLst/>
              <a:rect r="r" b="b" t="t" l="l"/>
              <a:pathLst>
                <a:path h="457581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242" t="0" r="-30234" b="5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247706" y="3507181"/>
            <a:ext cx="549069" cy="343167"/>
            <a:chOff x="0" y="0"/>
            <a:chExt cx="732092" cy="4575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2092" cy="457556"/>
            </a:xfrm>
            <a:custGeom>
              <a:avLst/>
              <a:gdLst/>
              <a:ahLst/>
              <a:cxnLst/>
              <a:rect r="r" b="b" t="t" l="l"/>
              <a:pathLst>
                <a:path h="457556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732092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ACC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 rot="18840">
            <a:off x="3292050" y="4025570"/>
            <a:ext cx="5220881" cy="0"/>
          </a:xfrm>
          <a:prstGeom prst="line">
            <a:avLst/>
          </a:prstGeom>
          <a:ln cap="rnd" w="19050">
            <a:solidFill>
              <a:srgbClr val="F8717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5737774" y="3527765"/>
            <a:ext cx="604076" cy="411861"/>
            <a:chOff x="0" y="0"/>
            <a:chExt cx="805434" cy="54914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05434" cy="549148"/>
            </a:xfrm>
            <a:custGeom>
              <a:avLst/>
              <a:gdLst/>
              <a:ahLst/>
              <a:cxnLst/>
              <a:rect r="r" b="b" t="t" l="l"/>
              <a:pathLst>
                <a:path h="549148" w="8054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lnTo>
                    <a:pt x="713867" y="0"/>
                  </a:lnTo>
                  <a:cubicBezTo>
                    <a:pt x="764413" y="0"/>
                    <a:pt x="805434" y="41021"/>
                    <a:pt x="805434" y="91567"/>
                  </a:cubicBezTo>
                  <a:lnTo>
                    <a:pt x="805434" y="457581"/>
                  </a:lnTo>
                  <a:cubicBezTo>
                    <a:pt x="805434" y="508127"/>
                    <a:pt x="764413" y="549148"/>
                    <a:pt x="713867" y="549148"/>
                  </a:cubicBezTo>
                  <a:lnTo>
                    <a:pt x="91567" y="549148"/>
                  </a:lnTo>
                  <a:cubicBezTo>
                    <a:pt x="41021" y="549021"/>
                    <a:pt x="0" y="508127"/>
                    <a:pt x="0" y="457581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765225" y="3548358"/>
            <a:ext cx="549069" cy="343167"/>
            <a:chOff x="0" y="0"/>
            <a:chExt cx="732092" cy="4575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2155" cy="457581"/>
            </a:xfrm>
            <a:custGeom>
              <a:avLst/>
              <a:gdLst/>
              <a:ahLst/>
              <a:cxnLst/>
              <a:rect r="r" b="b" t="t" l="l"/>
              <a:pathLst>
                <a:path h="457581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242" t="0" r="-30234" b="5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765225" y="3548358"/>
            <a:ext cx="549069" cy="343167"/>
            <a:chOff x="0" y="0"/>
            <a:chExt cx="732092" cy="45755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2092" cy="457556"/>
            </a:xfrm>
            <a:custGeom>
              <a:avLst/>
              <a:gdLst/>
              <a:ahLst/>
              <a:cxnLst/>
              <a:rect r="r" b="b" t="t" l="l"/>
              <a:pathLst>
                <a:path h="457556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732092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87171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 rot="35400">
            <a:off x="4224823" y="4565113"/>
            <a:ext cx="3698510" cy="0"/>
          </a:xfrm>
          <a:prstGeom prst="line">
            <a:avLst/>
          </a:prstGeom>
          <a:ln cap="rnd" w="28575">
            <a:solidFill>
              <a:srgbClr val="2DD4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5470103" y="4378823"/>
            <a:ext cx="604076" cy="411861"/>
            <a:chOff x="0" y="0"/>
            <a:chExt cx="805434" cy="54914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05434" cy="549148"/>
            </a:xfrm>
            <a:custGeom>
              <a:avLst/>
              <a:gdLst/>
              <a:ahLst/>
              <a:cxnLst/>
              <a:rect r="r" b="b" t="t" l="l"/>
              <a:pathLst>
                <a:path h="549148" w="8054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lnTo>
                    <a:pt x="713867" y="0"/>
                  </a:lnTo>
                  <a:cubicBezTo>
                    <a:pt x="764413" y="0"/>
                    <a:pt x="805434" y="41021"/>
                    <a:pt x="805434" y="91567"/>
                  </a:cubicBezTo>
                  <a:lnTo>
                    <a:pt x="805434" y="457581"/>
                  </a:lnTo>
                  <a:cubicBezTo>
                    <a:pt x="805434" y="508127"/>
                    <a:pt x="764413" y="549148"/>
                    <a:pt x="713867" y="549148"/>
                  </a:cubicBezTo>
                  <a:lnTo>
                    <a:pt x="91567" y="549148"/>
                  </a:lnTo>
                  <a:cubicBezTo>
                    <a:pt x="41021" y="549021"/>
                    <a:pt x="0" y="508127"/>
                    <a:pt x="0" y="457581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497554" y="4399417"/>
            <a:ext cx="549069" cy="343167"/>
            <a:chOff x="0" y="0"/>
            <a:chExt cx="732092" cy="45755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32155" cy="457581"/>
            </a:xfrm>
            <a:custGeom>
              <a:avLst/>
              <a:gdLst/>
              <a:ahLst/>
              <a:cxnLst/>
              <a:rect r="r" b="b" t="t" l="l"/>
              <a:pathLst>
                <a:path h="457581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242" t="0" r="-30234" b="5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5497554" y="4399417"/>
            <a:ext cx="549069" cy="343167"/>
            <a:chOff x="0" y="0"/>
            <a:chExt cx="732092" cy="4575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32092" cy="457556"/>
            </a:xfrm>
            <a:custGeom>
              <a:avLst/>
              <a:gdLst/>
              <a:ahLst/>
              <a:cxnLst/>
              <a:rect r="r" b="b" t="t" l="l"/>
              <a:pathLst>
                <a:path h="457556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732092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ACC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rot="32580">
            <a:off x="5665718" y="5535511"/>
            <a:ext cx="3012986" cy="0"/>
          </a:xfrm>
          <a:prstGeom prst="line">
            <a:avLst/>
          </a:prstGeom>
          <a:ln cap="rnd" w="19050">
            <a:solidFill>
              <a:srgbClr val="F8717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7076122" y="5339696"/>
            <a:ext cx="604076" cy="411861"/>
            <a:chOff x="0" y="0"/>
            <a:chExt cx="805434" cy="54914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05434" cy="549148"/>
            </a:xfrm>
            <a:custGeom>
              <a:avLst/>
              <a:gdLst/>
              <a:ahLst/>
              <a:cxnLst/>
              <a:rect r="r" b="b" t="t" l="l"/>
              <a:pathLst>
                <a:path h="549148" w="8054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lnTo>
                    <a:pt x="713867" y="0"/>
                  </a:lnTo>
                  <a:cubicBezTo>
                    <a:pt x="764413" y="0"/>
                    <a:pt x="805434" y="41021"/>
                    <a:pt x="805434" y="91567"/>
                  </a:cubicBezTo>
                  <a:lnTo>
                    <a:pt x="805434" y="457581"/>
                  </a:lnTo>
                  <a:cubicBezTo>
                    <a:pt x="805434" y="508127"/>
                    <a:pt x="764413" y="549148"/>
                    <a:pt x="713867" y="549148"/>
                  </a:cubicBezTo>
                  <a:lnTo>
                    <a:pt x="91567" y="549148"/>
                  </a:lnTo>
                  <a:cubicBezTo>
                    <a:pt x="41021" y="549021"/>
                    <a:pt x="0" y="508127"/>
                    <a:pt x="0" y="457581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103583" y="5360289"/>
            <a:ext cx="549069" cy="343167"/>
            <a:chOff x="0" y="0"/>
            <a:chExt cx="732092" cy="45755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32155" cy="457581"/>
            </a:xfrm>
            <a:custGeom>
              <a:avLst/>
              <a:gdLst/>
              <a:ahLst/>
              <a:cxnLst/>
              <a:rect r="r" b="b" t="t" l="l"/>
              <a:pathLst>
                <a:path h="457581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242" t="0" r="-30234" b="5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103583" y="5360289"/>
            <a:ext cx="549069" cy="343167"/>
            <a:chOff x="0" y="0"/>
            <a:chExt cx="732092" cy="45755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32092" cy="457556"/>
            </a:xfrm>
            <a:custGeom>
              <a:avLst/>
              <a:gdLst/>
              <a:ahLst/>
              <a:cxnLst/>
              <a:rect r="r" b="b" t="t" l="l"/>
              <a:pathLst>
                <a:path h="457556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732092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87171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</p:txBody>
        </p:sp>
      </p:grpSp>
      <p:sp>
        <p:nvSpPr>
          <p:cNvPr name="AutoShape 47" id="47"/>
          <p:cNvSpPr/>
          <p:nvPr/>
        </p:nvSpPr>
        <p:spPr>
          <a:xfrm rot="48120">
            <a:off x="7389562" y="5937790"/>
            <a:ext cx="2722445" cy="0"/>
          </a:xfrm>
          <a:prstGeom prst="line">
            <a:avLst/>
          </a:prstGeom>
          <a:ln cap="rnd" w="28575">
            <a:solidFill>
              <a:srgbClr val="2DD4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8" id="48"/>
          <p:cNvGrpSpPr/>
          <p:nvPr/>
        </p:nvGrpSpPr>
        <p:grpSpPr>
          <a:xfrm rot="0">
            <a:off x="8723328" y="5751500"/>
            <a:ext cx="604076" cy="411861"/>
            <a:chOff x="0" y="0"/>
            <a:chExt cx="805434" cy="54914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05434" cy="549148"/>
            </a:xfrm>
            <a:custGeom>
              <a:avLst/>
              <a:gdLst/>
              <a:ahLst/>
              <a:cxnLst/>
              <a:rect r="r" b="b" t="t" l="l"/>
              <a:pathLst>
                <a:path h="549148" w="8054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lnTo>
                    <a:pt x="713867" y="0"/>
                  </a:lnTo>
                  <a:cubicBezTo>
                    <a:pt x="764413" y="0"/>
                    <a:pt x="805434" y="41021"/>
                    <a:pt x="805434" y="91567"/>
                  </a:cubicBezTo>
                  <a:lnTo>
                    <a:pt x="805434" y="457581"/>
                  </a:lnTo>
                  <a:cubicBezTo>
                    <a:pt x="805434" y="508127"/>
                    <a:pt x="764413" y="549148"/>
                    <a:pt x="713867" y="549148"/>
                  </a:cubicBezTo>
                  <a:lnTo>
                    <a:pt x="91567" y="549148"/>
                  </a:lnTo>
                  <a:cubicBezTo>
                    <a:pt x="41021" y="549021"/>
                    <a:pt x="0" y="508127"/>
                    <a:pt x="0" y="457581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750789" y="5772083"/>
            <a:ext cx="549069" cy="343167"/>
            <a:chOff x="0" y="0"/>
            <a:chExt cx="732092" cy="45755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32155" cy="457581"/>
            </a:xfrm>
            <a:custGeom>
              <a:avLst/>
              <a:gdLst/>
              <a:ahLst/>
              <a:cxnLst/>
              <a:rect r="r" b="b" t="t" l="l"/>
              <a:pathLst>
                <a:path h="457581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242" t="0" r="-30234" b="5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8750789" y="5772083"/>
            <a:ext cx="549069" cy="343167"/>
            <a:chOff x="0" y="0"/>
            <a:chExt cx="732092" cy="45755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32092" cy="457556"/>
            </a:xfrm>
            <a:custGeom>
              <a:avLst/>
              <a:gdLst/>
              <a:ahLst/>
              <a:cxnLst/>
              <a:rect r="r" b="b" t="t" l="l"/>
              <a:pathLst>
                <a:path h="457556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732092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ACC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6</a:t>
              </a:r>
            </a:p>
          </p:txBody>
        </p:sp>
      </p:grpSp>
      <p:sp>
        <p:nvSpPr>
          <p:cNvPr name="AutoShape 55" id="55"/>
          <p:cNvSpPr/>
          <p:nvPr/>
        </p:nvSpPr>
        <p:spPr>
          <a:xfrm rot="19740">
            <a:off x="5890098" y="6775675"/>
            <a:ext cx="3319196" cy="0"/>
          </a:xfrm>
          <a:prstGeom prst="line">
            <a:avLst/>
          </a:prstGeom>
          <a:ln cap="rnd" w="19050">
            <a:solidFill>
              <a:srgbClr val="CBD5E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6" id="56"/>
          <p:cNvGrpSpPr/>
          <p:nvPr/>
        </p:nvGrpSpPr>
        <p:grpSpPr>
          <a:xfrm rot="0">
            <a:off x="7275166" y="6822186"/>
            <a:ext cx="604076" cy="411861"/>
            <a:chOff x="0" y="0"/>
            <a:chExt cx="805434" cy="54914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05434" cy="549148"/>
            </a:xfrm>
            <a:custGeom>
              <a:avLst/>
              <a:gdLst/>
              <a:ahLst/>
              <a:cxnLst/>
              <a:rect r="r" b="b" t="t" l="l"/>
              <a:pathLst>
                <a:path h="549148" w="805434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lnTo>
                    <a:pt x="713867" y="0"/>
                  </a:lnTo>
                  <a:cubicBezTo>
                    <a:pt x="764413" y="0"/>
                    <a:pt x="805434" y="41021"/>
                    <a:pt x="805434" y="91567"/>
                  </a:cubicBezTo>
                  <a:lnTo>
                    <a:pt x="805434" y="457581"/>
                  </a:lnTo>
                  <a:cubicBezTo>
                    <a:pt x="805434" y="508127"/>
                    <a:pt x="764413" y="549148"/>
                    <a:pt x="713867" y="549148"/>
                  </a:cubicBezTo>
                  <a:lnTo>
                    <a:pt x="91567" y="549148"/>
                  </a:lnTo>
                  <a:cubicBezTo>
                    <a:pt x="41021" y="549021"/>
                    <a:pt x="0" y="508127"/>
                    <a:pt x="0" y="457581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7302617" y="6842770"/>
            <a:ext cx="549069" cy="343167"/>
            <a:chOff x="0" y="0"/>
            <a:chExt cx="732092" cy="45755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32155" cy="457581"/>
            </a:xfrm>
            <a:custGeom>
              <a:avLst/>
              <a:gdLst/>
              <a:ahLst/>
              <a:cxnLst/>
              <a:rect r="r" b="b" t="t" l="l"/>
              <a:pathLst>
                <a:path h="457581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242" t="0" r="-30234" b="5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7302617" y="6842770"/>
            <a:ext cx="549069" cy="343167"/>
            <a:chOff x="0" y="0"/>
            <a:chExt cx="732092" cy="45755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32092" cy="457556"/>
            </a:xfrm>
            <a:custGeom>
              <a:avLst/>
              <a:gdLst/>
              <a:ahLst/>
              <a:cxnLst/>
              <a:rect r="r" b="b" t="t" l="l"/>
              <a:pathLst>
                <a:path h="457556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732092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ACC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7</a:t>
              </a: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3039370" y="2970733"/>
            <a:ext cx="784584" cy="784584"/>
          </a:xfrm>
          <a:custGeom>
            <a:avLst/>
            <a:gdLst/>
            <a:ahLst/>
            <a:cxnLst/>
            <a:rect r="r" b="b" t="t" l="l"/>
            <a:pathLst>
              <a:path h="784584" w="784584">
                <a:moveTo>
                  <a:pt x="0" y="0"/>
                </a:moveTo>
                <a:lnTo>
                  <a:pt x="784584" y="0"/>
                </a:lnTo>
                <a:lnTo>
                  <a:pt x="784584" y="784584"/>
                </a:lnTo>
                <a:lnTo>
                  <a:pt x="0" y="7845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3048667" y="2980030"/>
            <a:ext cx="766029" cy="766029"/>
            <a:chOff x="0" y="0"/>
            <a:chExt cx="1021372" cy="102137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21372" cy="1021372"/>
            </a:xfrm>
            <a:custGeom>
              <a:avLst/>
              <a:gdLst/>
              <a:ahLst/>
              <a:cxnLst/>
              <a:rect r="r" b="b" t="t" l="l"/>
              <a:pathLst>
                <a:path h="1021372" w="1021372">
                  <a:moveTo>
                    <a:pt x="0" y="0"/>
                  </a:moveTo>
                  <a:lnTo>
                    <a:pt x="1021372" y="0"/>
                  </a:lnTo>
                  <a:lnTo>
                    <a:pt x="1021372" y="1021372"/>
                  </a:lnTo>
                  <a:lnTo>
                    <a:pt x="0" y="10213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1021372" cy="1021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1"/>
                </a:lnSpc>
              </a:pPr>
              <a:r>
                <a:rPr lang="en-US" sz="24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</a:t>
              </a:r>
            </a:p>
          </p:txBody>
        </p:sp>
      </p:grpSp>
      <p:sp>
        <p:nvSpPr>
          <p:cNvPr name="Freeform 67" id="67"/>
          <p:cNvSpPr/>
          <p:nvPr/>
        </p:nvSpPr>
        <p:spPr>
          <a:xfrm flipH="false" flipV="false" rot="0">
            <a:off x="5784713" y="2421665"/>
            <a:ext cx="784584" cy="784584"/>
          </a:xfrm>
          <a:custGeom>
            <a:avLst/>
            <a:gdLst/>
            <a:ahLst/>
            <a:cxnLst/>
            <a:rect r="r" b="b" t="t" l="l"/>
            <a:pathLst>
              <a:path h="784584" w="784584">
                <a:moveTo>
                  <a:pt x="0" y="0"/>
                </a:moveTo>
                <a:lnTo>
                  <a:pt x="784584" y="0"/>
                </a:lnTo>
                <a:lnTo>
                  <a:pt x="784584" y="784583"/>
                </a:lnTo>
                <a:lnTo>
                  <a:pt x="0" y="7845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8" id="68"/>
          <p:cNvGrpSpPr/>
          <p:nvPr/>
        </p:nvGrpSpPr>
        <p:grpSpPr>
          <a:xfrm rot="0">
            <a:off x="5794010" y="2430961"/>
            <a:ext cx="766029" cy="766029"/>
            <a:chOff x="0" y="0"/>
            <a:chExt cx="1021372" cy="102137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21372" cy="1021372"/>
            </a:xfrm>
            <a:custGeom>
              <a:avLst/>
              <a:gdLst/>
              <a:ahLst/>
              <a:cxnLst/>
              <a:rect r="r" b="b" t="t" l="l"/>
              <a:pathLst>
                <a:path h="1021372" w="1021372">
                  <a:moveTo>
                    <a:pt x="0" y="0"/>
                  </a:moveTo>
                  <a:lnTo>
                    <a:pt x="1021372" y="0"/>
                  </a:lnTo>
                  <a:lnTo>
                    <a:pt x="1021372" y="1021372"/>
                  </a:lnTo>
                  <a:lnTo>
                    <a:pt x="0" y="10213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1021372" cy="1021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1"/>
                </a:lnSpc>
              </a:pPr>
              <a:r>
                <a:rPr lang="en-US" sz="24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</a:t>
              </a:r>
            </a:p>
          </p:txBody>
        </p:sp>
      </p:grpSp>
      <p:sp>
        <p:nvSpPr>
          <p:cNvPr name="Freeform 71" id="71"/>
          <p:cNvSpPr/>
          <p:nvPr/>
        </p:nvSpPr>
        <p:spPr>
          <a:xfrm flipH="false" flipV="false" rot="0">
            <a:off x="7980988" y="4343410"/>
            <a:ext cx="784584" cy="784584"/>
          </a:xfrm>
          <a:custGeom>
            <a:avLst/>
            <a:gdLst/>
            <a:ahLst/>
            <a:cxnLst/>
            <a:rect r="r" b="b" t="t" l="l"/>
            <a:pathLst>
              <a:path h="784584" w="784584">
                <a:moveTo>
                  <a:pt x="0" y="0"/>
                </a:moveTo>
                <a:lnTo>
                  <a:pt x="784584" y="0"/>
                </a:lnTo>
                <a:lnTo>
                  <a:pt x="784584" y="784583"/>
                </a:lnTo>
                <a:lnTo>
                  <a:pt x="0" y="7845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2" id="72"/>
          <p:cNvGrpSpPr/>
          <p:nvPr/>
        </p:nvGrpSpPr>
        <p:grpSpPr>
          <a:xfrm rot="0">
            <a:off x="7990284" y="4352706"/>
            <a:ext cx="766029" cy="766029"/>
            <a:chOff x="0" y="0"/>
            <a:chExt cx="1021372" cy="102137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21372" cy="1021372"/>
            </a:xfrm>
            <a:custGeom>
              <a:avLst/>
              <a:gdLst/>
              <a:ahLst/>
              <a:cxnLst/>
              <a:rect r="r" b="b" t="t" l="l"/>
              <a:pathLst>
                <a:path h="1021372" w="1021372">
                  <a:moveTo>
                    <a:pt x="0" y="0"/>
                  </a:moveTo>
                  <a:lnTo>
                    <a:pt x="1021372" y="0"/>
                  </a:lnTo>
                  <a:lnTo>
                    <a:pt x="1021372" y="1021372"/>
                  </a:lnTo>
                  <a:lnTo>
                    <a:pt x="0" y="10213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1021372" cy="1021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1"/>
                </a:lnSpc>
              </a:pPr>
              <a:r>
                <a:rPr lang="en-US" sz="24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</a:t>
              </a:r>
            </a:p>
          </p:txBody>
        </p:sp>
      </p:grpSp>
      <p:sp>
        <p:nvSpPr>
          <p:cNvPr name="Freeform 75" id="75"/>
          <p:cNvSpPr/>
          <p:nvPr/>
        </p:nvSpPr>
        <p:spPr>
          <a:xfrm flipH="false" flipV="false" rot="0">
            <a:off x="5578812" y="5990615"/>
            <a:ext cx="784584" cy="784584"/>
          </a:xfrm>
          <a:custGeom>
            <a:avLst/>
            <a:gdLst/>
            <a:ahLst/>
            <a:cxnLst/>
            <a:rect r="r" b="b" t="t" l="l"/>
            <a:pathLst>
              <a:path h="784584" w="784584">
                <a:moveTo>
                  <a:pt x="0" y="0"/>
                </a:moveTo>
                <a:lnTo>
                  <a:pt x="784583" y="0"/>
                </a:lnTo>
                <a:lnTo>
                  <a:pt x="784583" y="784584"/>
                </a:lnTo>
                <a:lnTo>
                  <a:pt x="0" y="7845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6" id="76"/>
          <p:cNvGrpSpPr/>
          <p:nvPr/>
        </p:nvGrpSpPr>
        <p:grpSpPr>
          <a:xfrm rot="0">
            <a:off x="5588108" y="5999912"/>
            <a:ext cx="766029" cy="766029"/>
            <a:chOff x="0" y="0"/>
            <a:chExt cx="1021372" cy="102137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21372" cy="1021372"/>
            </a:xfrm>
            <a:custGeom>
              <a:avLst/>
              <a:gdLst/>
              <a:ahLst/>
              <a:cxnLst/>
              <a:rect r="r" b="b" t="t" l="l"/>
              <a:pathLst>
                <a:path h="1021372" w="1021372">
                  <a:moveTo>
                    <a:pt x="0" y="0"/>
                  </a:moveTo>
                  <a:lnTo>
                    <a:pt x="1021372" y="0"/>
                  </a:lnTo>
                  <a:lnTo>
                    <a:pt x="1021372" y="1021372"/>
                  </a:lnTo>
                  <a:lnTo>
                    <a:pt x="0" y="10213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1021372" cy="1021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1"/>
                </a:lnSpc>
              </a:pPr>
              <a:r>
                <a:rPr lang="en-US" sz="24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</a:t>
              </a:r>
            </a:p>
          </p:txBody>
        </p:sp>
      </p:grpSp>
      <p:sp>
        <p:nvSpPr>
          <p:cNvPr name="Freeform 79" id="79"/>
          <p:cNvSpPr/>
          <p:nvPr/>
        </p:nvSpPr>
        <p:spPr>
          <a:xfrm flipH="false" flipV="false" rot="0">
            <a:off x="8735959" y="6814223"/>
            <a:ext cx="784584" cy="784584"/>
          </a:xfrm>
          <a:custGeom>
            <a:avLst/>
            <a:gdLst/>
            <a:ahLst/>
            <a:cxnLst/>
            <a:rect r="r" b="b" t="t" l="l"/>
            <a:pathLst>
              <a:path h="784584" w="784584">
                <a:moveTo>
                  <a:pt x="0" y="0"/>
                </a:moveTo>
                <a:lnTo>
                  <a:pt x="784583" y="0"/>
                </a:lnTo>
                <a:lnTo>
                  <a:pt x="784583" y="784584"/>
                </a:lnTo>
                <a:lnTo>
                  <a:pt x="0" y="7845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0">
            <a:off x="8745255" y="6823520"/>
            <a:ext cx="766029" cy="766029"/>
            <a:chOff x="0" y="0"/>
            <a:chExt cx="1021372" cy="102137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21372" cy="1021372"/>
            </a:xfrm>
            <a:custGeom>
              <a:avLst/>
              <a:gdLst/>
              <a:ahLst/>
              <a:cxnLst/>
              <a:rect r="r" b="b" t="t" l="l"/>
              <a:pathLst>
                <a:path h="1021372" w="1021372">
                  <a:moveTo>
                    <a:pt x="0" y="0"/>
                  </a:moveTo>
                  <a:lnTo>
                    <a:pt x="1021372" y="0"/>
                  </a:lnTo>
                  <a:lnTo>
                    <a:pt x="1021372" y="1021372"/>
                  </a:lnTo>
                  <a:lnTo>
                    <a:pt x="0" y="10213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1021372" cy="1021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1"/>
                </a:lnSpc>
              </a:pPr>
              <a:r>
                <a:rPr lang="en-US" sz="24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0226411" y="2745343"/>
            <a:ext cx="7000684" cy="6314313"/>
            <a:chOff x="0" y="0"/>
            <a:chExt cx="9334246" cy="841908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334246" cy="8419084"/>
            </a:xfrm>
            <a:custGeom>
              <a:avLst/>
              <a:gdLst/>
              <a:ahLst/>
              <a:cxnLst/>
              <a:rect r="r" b="b" t="t" l="l"/>
              <a:pathLst>
                <a:path h="8419084" w="9334246">
                  <a:moveTo>
                    <a:pt x="0" y="1403223"/>
                  </a:moveTo>
                  <a:cubicBezTo>
                    <a:pt x="0" y="628269"/>
                    <a:pt x="628269" y="0"/>
                    <a:pt x="1403223" y="0"/>
                  </a:cubicBezTo>
                  <a:lnTo>
                    <a:pt x="7931023" y="0"/>
                  </a:lnTo>
                  <a:cubicBezTo>
                    <a:pt x="8705977" y="0"/>
                    <a:pt x="9334246" y="628269"/>
                    <a:pt x="9334246" y="1403223"/>
                  </a:cubicBezTo>
                  <a:lnTo>
                    <a:pt x="9334246" y="7015861"/>
                  </a:lnTo>
                  <a:cubicBezTo>
                    <a:pt x="9334246" y="7790815"/>
                    <a:pt x="8705977" y="8419084"/>
                    <a:pt x="7931023" y="8419084"/>
                  </a:cubicBezTo>
                  <a:lnTo>
                    <a:pt x="1403223" y="8419084"/>
                  </a:lnTo>
                  <a:cubicBezTo>
                    <a:pt x="628269" y="8419084"/>
                    <a:pt x="0" y="7790815"/>
                    <a:pt x="0" y="7015861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sp>
        <p:nvSpPr>
          <p:cNvPr name="TextBox 85" id="85"/>
          <p:cNvSpPr txBox="true"/>
          <p:nvPr/>
        </p:nvSpPr>
        <p:spPr>
          <a:xfrm rot="0">
            <a:off x="10779995" y="3280648"/>
            <a:ext cx="5980376" cy="5261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sz="2550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4. BD (4) → accept</a:t>
            </a:r>
          </a:p>
          <a:p>
            <a:pPr algn="l">
              <a:lnSpc>
                <a:spcPts val="3061"/>
              </a:lnSpc>
            </a:pPr>
            <a:r>
              <a:rPr lang="en-US" sz="2550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5. CD (5) → reject (cycle)</a:t>
            </a:r>
          </a:p>
          <a:p>
            <a:pPr algn="l">
              <a:lnSpc>
                <a:spcPts val="3061"/>
              </a:lnSpc>
            </a:pPr>
            <a:r>
              <a:rPr lang="en-US" sz="2550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6. CE (6) → accept</a:t>
            </a:r>
          </a:p>
          <a:p>
            <a:pPr algn="l">
              <a:lnSpc>
                <a:spcPts val="3061"/>
              </a:lnSpc>
            </a:pPr>
          </a:p>
          <a:p>
            <a:pPr algn="l">
              <a:lnSpc>
                <a:spcPts val="3061"/>
              </a:lnSpc>
            </a:pPr>
            <a:r>
              <a:rPr lang="en-US" sz="2550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MST edges:</a:t>
            </a:r>
          </a:p>
          <a:p>
            <a:pPr algn="l">
              <a:lnSpc>
                <a:spcPts val="3061"/>
              </a:lnSpc>
            </a:pPr>
            <a:r>
              <a:rPr lang="en-US" sz="2550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AB, BC, BD, CE</a:t>
            </a:r>
          </a:p>
          <a:p>
            <a:pPr algn="l">
              <a:lnSpc>
                <a:spcPts val="3061"/>
              </a:lnSpc>
            </a:pPr>
          </a:p>
          <a:p>
            <a:pPr algn="l">
              <a:lnSpc>
                <a:spcPts val="3061"/>
              </a:lnSpc>
            </a:pPr>
            <a:r>
              <a:rPr lang="en-US" sz="2550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Total weight = 1 + 2 + 4 + 6 = 13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947099" y="9754333"/>
            <a:ext cx="14303331" cy="211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CBD5E1"/>
                </a:solidFill>
                <a:latin typeface="Aptos"/>
                <a:ea typeface="Aptos"/>
                <a:cs typeface="Aptos"/>
                <a:sym typeface="Aptos"/>
              </a:rPr>
              <a:t>DAA • Design &amp; Analysis of Algorithms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6732834" y="9754333"/>
            <a:ext cx="576605" cy="211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 b="true">
                <a:solidFill>
                  <a:srgbClr val="2DD4BF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7099" y="535295"/>
            <a:ext cx="16362340" cy="370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DD4BF"/>
                </a:solidFill>
                <a:latin typeface="Aptos Bold"/>
                <a:ea typeface="Aptos Bold"/>
                <a:cs typeface="Aptos Bold"/>
                <a:sym typeface="Aptos Bold"/>
              </a:rPr>
              <a:t>05 • HOW TO IMPLEMENT IT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7099" y="1084364"/>
            <a:ext cx="16362340" cy="74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Algorithm &amp; pseudocode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88285" y="2004060"/>
            <a:ext cx="16362340" cy="507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0">
                <a:solidFill>
                  <a:srgbClr val="CBD5E1"/>
                </a:solidFill>
                <a:latin typeface="Aptos"/>
                <a:ea typeface="Aptos"/>
                <a:cs typeface="Aptos"/>
                <a:sym typeface="Aptos"/>
              </a:rPr>
              <a:t>A Disjoint Set Union (DSU) structure efficiently detects whether an edge forms a cycle.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60872" y="2745343"/>
            <a:ext cx="8236077" cy="6382893"/>
            <a:chOff x="0" y="0"/>
            <a:chExt cx="10981436" cy="85105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81436" cy="8510524"/>
            </a:xfrm>
            <a:custGeom>
              <a:avLst/>
              <a:gdLst/>
              <a:ahLst/>
              <a:cxnLst/>
              <a:rect r="r" b="b" t="t" l="l"/>
              <a:pathLst>
                <a:path h="8510524" w="10981436">
                  <a:moveTo>
                    <a:pt x="0" y="1418463"/>
                  </a:moveTo>
                  <a:cubicBezTo>
                    <a:pt x="0" y="635127"/>
                    <a:pt x="635127" y="0"/>
                    <a:pt x="1418463" y="0"/>
                  </a:cubicBezTo>
                  <a:lnTo>
                    <a:pt x="9562973" y="0"/>
                  </a:lnTo>
                  <a:cubicBezTo>
                    <a:pt x="10346309" y="0"/>
                    <a:pt x="10981436" y="635127"/>
                    <a:pt x="10981436" y="1418463"/>
                  </a:cubicBezTo>
                  <a:lnTo>
                    <a:pt x="10981436" y="7092061"/>
                  </a:lnTo>
                  <a:cubicBezTo>
                    <a:pt x="10981436" y="7875397"/>
                    <a:pt x="10346309" y="8510524"/>
                    <a:pt x="9562973" y="8510524"/>
                  </a:cubicBezTo>
                  <a:lnTo>
                    <a:pt x="1418463" y="8510524"/>
                  </a:lnTo>
                  <a:cubicBezTo>
                    <a:pt x="635127" y="8510524"/>
                    <a:pt x="0" y="7875524"/>
                    <a:pt x="0" y="7092061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445828" y="3212011"/>
            <a:ext cx="7215778" cy="5536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400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1. Sort all edges by increasing weight.</a:t>
            </a:r>
          </a:p>
          <a:p>
            <a:pPr algn="l">
              <a:lnSpc>
                <a:spcPts val="2881"/>
              </a:lnSpc>
            </a:pPr>
            <a:r>
              <a:rPr lang="en-US" sz="2400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2. Start with an empty MST.</a:t>
            </a:r>
          </a:p>
          <a:p>
            <a:pPr algn="l">
              <a:lnSpc>
                <a:spcPts val="2881"/>
              </a:lnSpc>
            </a:pPr>
            <a:r>
              <a:rPr lang="en-US" sz="2400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3. For each edge (u, v) in sorted order:</a:t>
            </a:r>
          </a:p>
          <a:p>
            <a:pPr algn="l">
              <a:lnSpc>
                <a:spcPts val="2881"/>
              </a:lnSpc>
            </a:pPr>
            <a:r>
              <a:rPr lang="en-US" sz="2400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   • If Find(u) ≠ Find(v), add the edge.</a:t>
            </a:r>
          </a:p>
          <a:p>
            <a:pPr algn="l">
              <a:lnSpc>
                <a:spcPts val="2881"/>
              </a:lnSpc>
            </a:pPr>
            <a:r>
              <a:rPr lang="en-US" sz="2400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   • Union(u, v) to merge the components.</a:t>
            </a:r>
          </a:p>
          <a:p>
            <a:pPr algn="l">
              <a:lnSpc>
                <a:spcPts val="2881"/>
              </a:lnSpc>
            </a:pPr>
            <a:r>
              <a:rPr lang="en-US" sz="2400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   • Otherwise, skip the edge.</a:t>
            </a:r>
          </a:p>
          <a:p>
            <a:pPr algn="l">
              <a:lnSpc>
                <a:spcPts val="2881"/>
              </a:lnSpc>
            </a:pPr>
            <a:r>
              <a:rPr lang="en-US" sz="2400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4. Stop after V − 1 edges are selected.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608706" y="2745343"/>
            <a:ext cx="7618381" cy="6382893"/>
            <a:chOff x="0" y="0"/>
            <a:chExt cx="10157841" cy="85105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57841" cy="8510524"/>
            </a:xfrm>
            <a:custGeom>
              <a:avLst/>
              <a:gdLst/>
              <a:ahLst/>
              <a:cxnLst/>
              <a:rect r="r" b="b" t="t" l="l"/>
              <a:pathLst>
                <a:path h="8510524" w="10157841">
                  <a:moveTo>
                    <a:pt x="0" y="1418463"/>
                  </a:moveTo>
                  <a:cubicBezTo>
                    <a:pt x="0" y="635127"/>
                    <a:pt x="635127" y="0"/>
                    <a:pt x="1418463" y="0"/>
                  </a:cubicBezTo>
                  <a:lnTo>
                    <a:pt x="8739378" y="0"/>
                  </a:lnTo>
                  <a:cubicBezTo>
                    <a:pt x="9522714" y="0"/>
                    <a:pt x="10157841" y="635127"/>
                    <a:pt x="10157841" y="1418463"/>
                  </a:cubicBezTo>
                  <a:lnTo>
                    <a:pt x="10157841" y="7092061"/>
                  </a:lnTo>
                  <a:cubicBezTo>
                    <a:pt x="10157841" y="7875397"/>
                    <a:pt x="9522714" y="8510524"/>
                    <a:pt x="8739378" y="8510524"/>
                  </a:cubicBezTo>
                  <a:lnTo>
                    <a:pt x="1418463" y="8510524"/>
                  </a:lnTo>
                  <a:cubicBezTo>
                    <a:pt x="635127" y="8510524"/>
                    <a:pt x="0" y="7875524"/>
                    <a:pt x="0" y="7092061"/>
                  </a:cubicBezTo>
                  <a:close/>
                </a:path>
              </a:pathLst>
            </a:custGeom>
            <a:solidFill>
              <a:srgbClr val="0A1223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075374" y="3166348"/>
            <a:ext cx="6684997" cy="5357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0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KRUSKAL(G):</a:t>
            </a:r>
          </a:p>
          <a:p>
            <a:pPr algn="l">
              <a:lnSpc>
                <a:spcPts val="2702"/>
              </a:lnSpc>
            </a:pPr>
            <a:r>
              <a:rPr lang="en-US" sz="2250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  MST = empty set</a:t>
            </a:r>
          </a:p>
          <a:p>
            <a:pPr algn="l">
              <a:lnSpc>
                <a:spcPts val="2702"/>
              </a:lnSpc>
            </a:pPr>
            <a:r>
              <a:rPr lang="en-US" sz="2250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  sort edges by weight</a:t>
            </a:r>
          </a:p>
          <a:p>
            <a:pPr algn="l">
              <a:lnSpc>
                <a:spcPts val="2702"/>
              </a:lnSpc>
            </a:pPr>
            <a:r>
              <a:rPr lang="en-US" sz="2250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  for each edge (u, v, w):</a:t>
            </a:r>
          </a:p>
          <a:p>
            <a:pPr algn="l">
              <a:lnSpc>
                <a:spcPts val="2702"/>
              </a:lnSpc>
            </a:pPr>
            <a:r>
              <a:rPr lang="en-US" sz="2250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      if FIND(u) != FIND(v):</a:t>
            </a:r>
          </a:p>
          <a:p>
            <a:pPr algn="l">
              <a:lnSpc>
                <a:spcPts val="2702"/>
              </a:lnSpc>
            </a:pPr>
            <a:r>
              <a:rPr lang="en-US" sz="2250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          add (u, v, w) to MST</a:t>
            </a:r>
          </a:p>
          <a:p>
            <a:pPr algn="l">
              <a:lnSpc>
                <a:spcPts val="2702"/>
              </a:lnSpc>
            </a:pPr>
            <a:r>
              <a:rPr lang="en-US" sz="2250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          UNION(u, v)</a:t>
            </a:r>
          </a:p>
          <a:p>
            <a:pPr algn="l">
              <a:lnSpc>
                <a:spcPts val="2702"/>
              </a:lnSpc>
            </a:pPr>
            <a:r>
              <a:rPr lang="en-US" sz="2250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      if |MST| == V - 1:</a:t>
            </a:r>
          </a:p>
          <a:p>
            <a:pPr algn="l">
              <a:lnSpc>
                <a:spcPts val="2702"/>
              </a:lnSpc>
            </a:pPr>
            <a:r>
              <a:rPr lang="en-US" sz="2250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          break</a:t>
            </a:r>
          </a:p>
          <a:p>
            <a:pPr algn="l">
              <a:lnSpc>
                <a:spcPts val="2702"/>
              </a:lnSpc>
            </a:pPr>
            <a:r>
              <a:rPr lang="en-US" sz="2250">
                <a:solidFill>
                  <a:srgbClr val="86EFAC"/>
                </a:solidFill>
                <a:latin typeface="Consolas"/>
                <a:ea typeface="Consolas"/>
                <a:cs typeface="Consolas"/>
                <a:sym typeface="Consolas"/>
              </a:rPr>
              <a:t>  return MST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7099" y="9754333"/>
            <a:ext cx="14303331" cy="211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CBD5E1"/>
                </a:solidFill>
                <a:latin typeface="Aptos"/>
                <a:ea typeface="Aptos"/>
                <a:cs typeface="Aptos"/>
                <a:sym typeface="Aptos"/>
              </a:rPr>
              <a:t>DAA • Design &amp; Analysis of Algorithms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732834" y="9754333"/>
            <a:ext cx="576605" cy="211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 b="true">
                <a:solidFill>
                  <a:srgbClr val="2DD4BF"/>
                </a:solidFill>
                <a:latin typeface="Aptos Bold"/>
                <a:ea typeface="Aptos Bold"/>
                <a:cs typeface="Aptos Bold"/>
                <a:sym typeface="Aptos 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7099" y="535295"/>
            <a:ext cx="16362340" cy="370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DD4BF"/>
                </a:solidFill>
                <a:latin typeface="Aptos Bold"/>
                <a:ea typeface="Aptos Bold"/>
                <a:cs typeface="Aptos Bold"/>
                <a:sym typeface="Aptos Bold"/>
              </a:rPr>
              <a:t>06 • EFFICIENCY &amp; REAL-WORLD USE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7099" y="1084364"/>
            <a:ext cx="16362340" cy="74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Why is Kruskal useful?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88285" y="2004060"/>
            <a:ext cx="16362340" cy="507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0">
                <a:solidFill>
                  <a:srgbClr val="CBD5E1"/>
                </a:solidFill>
                <a:latin typeface="Aptos"/>
                <a:ea typeface="Aptos"/>
                <a:cs typeface="Aptos"/>
                <a:sym typeface="Aptos"/>
              </a:rPr>
              <a:t>Efficiently builds a low-cost network without unnecessary cycles.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9500" y="2813980"/>
            <a:ext cx="7755541" cy="2264854"/>
            <a:chOff x="0" y="0"/>
            <a:chExt cx="10340721" cy="30198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340721" cy="3019806"/>
            </a:xfrm>
            <a:custGeom>
              <a:avLst/>
              <a:gdLst/>
              <a:ahLst/>
              <a:cxnLst/>
              <a:rect r="r" b="b" t="t" l="l"/>
              <a:pathLst>
                <a:path h="3019806" w="10340721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lnTo>
                    <a:pt x="9837420" y="0"/>
                  </a:lnTo>
                  <a:cubicBezTo>
                    <a:pt x="10115423" y="0"/>
                    <a:pt x="10340721" y="225298"/>
                    <a:pt x="10340721" y="503301"/>
                  </a:cubicBezTo>
                  <a:lnTo>
                    <a:pt x="10340721" y="2516505"/>
                  </a:lnTo>
                  <a:cubicBezTo>
                    <a:pt x="10340721" y="2794508"/>
                    <a:pt x="10115423" y="3019806"/>
                    <a:pt x="9837420" y="3019806"/>
                  </a:cubicBezTo>
                  <a:lnTo>
                    <a:pt x="503301" y="3019806"/>
                  </a:lnTo>
                  <a:cubicBezTo>
                    <a:pt x="225298" y="3019933"/>
                    <a:pt x="0" y="2794508"/>
                    <a:pt x="0" y="2516505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496168" y="3239462"/>
            <a:ext cx="6753635" cy="370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 b="true">
                <a:solidFill>
                  <a:srgbClr val="2DD4BF"/>
                </a:solidFill>
                <a:latin typeface="Aptos Bold"/>
                <a:ea typeface="Aptos Bold"/>
                <a:cs typeface="Aptos Bold"/>
                <a:sym typeface="Aptos Bold"/>
              </a:rPr>
              <a:t>TIME COMPLEXITY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96168" y="3870893"/>
            <a:ext cx="6753635" cy="645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3"/>
              </a:lnSpc>
            </a:pPr>
            <a:r>
              <a:rPr lang="en-US" sz="4353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O(E log E)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96168" y="4516050"/>
            <a:ext cx="6753635" cy="302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>
                <a:solidFill>
                  <a:srgbClr val="CBD5E1"/>
                </a:solidFill>
                <a:latin typeface="Aptos"/>
                <a:ea typeface="Aptos"/>
                <a:cs typeface="Aptos"/>
                <a:sym typeface="Aptos"/>
              </a:rPr>
              <a:t>Dominated by sorting E edges.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265539" y="2813980"/>
            <a:ext cx="7961471" cy="2264854"/>
            <a:chOff x="0" y="0"/>
            <a:chExt cx="10615295" cy="30198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15295" cy="3019806"/>
            </a:xfrm>
            <a:custGeom>
              <a:avLst/>
              <a:gdLst/>
              <a:ahLst/>
              <a:cxnLst/>
              <a:rect r="r" b="b" t="t" l="l"/>
              <a:pathLst>
                <a:path h="3019806" w="10615295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lnTo>
                    <a:pt x="10111994" y="0"/>
                  </a:lnTo>
                  <a:cubicBezTo>
                    <a:pt x="10389997" y="0"/>
                    <a:pt x="10615295" y="225298"/>
                    <a:pt x="10615295" y="503301"/>
                  </a:cubicBezTo>
                  <a:lnTo>
                    <a:pt x="10615295" y="2516505"/>
                  </a:lnTo>
                  <a:cubicBezTo>
                    <a:pt x="10615295" y="2794508"/>
                    <a:pt x="10389997" y="3019806"/>
                    <a:pt x="10111994" y="3019806"/>
                  </a:cubicBezTo>
                  <a:lnTo>
                    <a:pt x="503301" y="3019806"/>
                  </a:lnTo>
                  <a:cubicBezTo>
                    <a:pt x="225298" y="3019933"/>
                    <a:pt x="0" y="2794508"/>
                    <a:pt x="0" y="2516505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732207" y="3239462"/>
            <a:ext cx="6890899" cy="370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 b="true">
                <a:solidFill>
                  <a:srgbClr val="F472B6"/>
                </a:solidFill>
                <a:latin typeface="Aptos Bold"/>
                <a:ea typeface="Aptos Bold"/>
                <a:cs typeface="Aptos Bold"/>
                <a:sym typeface="Aptos Bold"/>
              </a:rPr>
              <a:t>SPACE / DATA STRUCTURE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32207" y="3870893"/>
            <a:ext cx="6890899" cy="645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DSU / Union-Find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32207" y="4516050"/>
            <a:ext cx="6890899" cy="302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>
                <a:solidFill>
                  <a:srgbClr val="CBD5E1"/>
                </a:solidFill>
                <a:latin typeface="Aptos"/>
                <a:ea typeface="Aptos"/>
                <a:cs typeface="Aptos"/>
                <a:sym typeface="Aptos"/>
              </a:rPr>
              <a:t>Path compression + union by rank/size.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29500" y="5559323"/>
            <a:ext cx="16197548" cy="3088481"/>
            <a:chOff x="0" y="0"/>
            <a:chExt cx="21596731" cy="41179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596731" cy="4117975"/>
            </a:xfrm>
            <a:custGeom>
              <a:avLst/>
              <a:gdLst/>
              <a:ahLst/>
              <a:cxnLst/>
              <a:rect r="r" b="b" t="t" l="l"/>
              <a:pathLst>
                <a:path h="4117975" w="21596731">
                  <a:moveTo>
                    <a:pt x="0" y="686308"/>
                  </a:moveTo>
                  <a:cubicBezTo>
                    <a:pt x="0" y="307340"/>
                    <a:pt x="307340" y="0"/>
                    <a:pt x="686308" y="0"/>
                  </a:cubicBezTo>
                  <a:lnTo>
                    <a:pt x="20910423" y="0"/>
                  </a:lnTo>
                  <a:cubicBezTo>
                    <a:pt x="21289518" y="0"/>
                    <a:pt x="21596731" y="307340"/>
                    <a:pt x="21596731" y="686308"/>
                  </a:cubicBezTo>
                  <a:lnTo>
                    <a:pt x="21596731" y="3431667"/>
                  </a:lnTo>
                  <a:cubicBezTo>
                    <a:pt x="21596731" y="3810762"/>
                    <a:pt x="21289390" y="4117975"/>
                    <a:pt x="20910423" y="4117975"/>
                  </a:cubicBezTo>
                  <a:lnTo>
                    <a:pt x="686308" y="4117975"/>
                  </a:lnTo>
                  <a:cubicBezTo>
                    <a:pt x="307340" y="4117975"/>
                    <a:pt x="0" y="3810762"/>
                    <a:pt x="0" y="3431667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496168" y="6025991"/>
            <a:ext cx="14715134" cy="370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 b="true">
                <a:solidFill>
                  <a:srgbClr val="FACC15"/>
                </a:solidFill>
                <a:latin typeface="Aptos Bold"/>
                <a:ea typeface="Aptos Bold"/>
                <a:cs typeface="Aptos Bold"/>
                <a:sym typeface="Aptos Bold"/>
              </a:rPr>
              <a:t>APPLICATIONS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14456" y="6643688"/>
            <a:ext cx="14696846" cy="155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sz="2550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• Designing low-cost road, cable, power and computer networks</a:t>
            </a:r>
          </a:p>
          <a:p>
            <a:pPr algn="l">
              <a:lnSpc>
                <a:spcPts val="3061"/>
              </a:lnSpc>
            </a:pPr>
            <a:r>
              <a:rPr lang="en-US" sz="2550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• Clustering and network optimization problems</a:t>
            </a:r>
          </a:p>
          <a:p>
            <a:pPr algn="l">
              <a:lnSpc>
                <a:spcPts val="3061"/>
              </a:lnSpc>
            </a:pPr>
            <a:r>
              <a:rPr lang="en-US" sz="2550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• Any connected, weighted, undirected graph where a minimum spanning tree is needed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7099" y="9754333"/>
            <a:ext cx="14303331" cy="211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CBD5E1"/>
                </a:solidFill>
                <a:latin typeface="Aptos"/>
                <a:ea typeface="Aptos"/>
                <a:cs typeface="Aptos"/>
                <a:sym typeface="Aptos"/>
              </a:rPr>
              <a:t>DAA • Design &amp; Analysis of Algorithms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732834" y="9754333"/>
            <a:ext cx="576605" cy="211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 b="true">
                <a:solidFill>
                  <a:srgbClr val="2DD4BF"/>
                </a:solidFill>
                <a:latin typeface="Aptos Bold"/>
                <a:ea typeface="Aptos Bold"/>
                <a:cs typeface="Aptos Bold"/>
                <a:sym typeface="Aptos 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7099" y="535295"/>
            <a:ext cx="16362340" cy="370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DD4BF"/>
                </a:solidFill>
                <a:latin typeface="Aptos Bold"/>
                <a:ea typeface="Aptos Bold"/>
                <a:cs typeface="Aptos Bold"/>
                <a:sym typeface="Aptos Bold"/>
              </a:rPr>
              <a:t>07 • RECAP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7099" y="1084364"/>
            <a:ext cx="16362340" cy="74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One simple rule. One minimum-cost tree.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88285" y="2004060"/>
            <a:ext cx="16362340" cy="507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0">
                <a:solidFill>
                  <a:srgbClr val="CBD5E1"/>
                </a:solidFill>
                <a:latin typeface="Aptos"/>
                <a:ea typeface="Aptos"/>
                <a:cs typeface="Aptos"/>
                <a:sym typeface="Aptos"/>
              </a:rPr>
              <a:t>Kruskal repeatedly chooses the lightest edge that keeps the graph cycle-free.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98137" y="2813980"/>
            <a:ext cx="9883235" cy="5422106"/>
            <a:chOff x="0" y="0"/>
            <a:chExt cx="13177647" cy="72294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177647" cy="7229475"/>
            </a:xfrm>
            <a:custGeom>
              <a:avLst/>
              <a:gdLst/>
              <a:ahLst/>
              <a:cxnLst/>
              <a:rect r="r" b="b" t="t" l="l"/>
              <a:pathLst>
                <a:path h="7229475" w="13177647">
                  <a:moveTo>
                    <a:pt x="0" y="1204976"/>
                  </a:moveTo>
                  <a:cubicBezTo>
                    <a:pt x="0" y="539496"/>
                    <a:pt x="539496" y="0"/>
                    <a:pt x="1204976" y="0"/>
                  </a:cubicBezTo>
                  <a:lnTo>
                    <a:pt x="11972671" y="0"/>
                  </a:lnTo>
                  <a:cubicBezTo>
                    <a:pt x="12638151" y="0"/>
                    <a:pt x="13177647" y="539496"/>
                    <a:pt x="13177647" y="1204976"/>
                  </a:cubicBezTo>
                  <a:lnTo>
                    <a:pt x="13177647" y="6024499"/>
                  </a:lnTo>
                  <a:cubicBezTo>
                    <a:pt x="13177647" y="6689979"/>
                    <a:pt x="12638151" y="7229475"/>
                    <a:pt x="11972671" y="7229475"/>
                  </a:cubicBezTo>
                  <a:lnTo>
                    <a:pt x="1204976" y="7229475"/>
                  </a:lnTo>
                  <a:cubicBezTo>
                    <a:pt x="539496" y="7229348"/>
                    <a:pt x="0" y="6689979"/>
                    <a:pt x="0" y="6024499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51721" y="3234976"/>
            <a:ext cx="8794356" cy="4415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2DD4BF"/>
                </a:solidFill>
                <a:latin typeface="Calibri (MS)"/>
                <a:ea typeface="Calibri (MS)"/>
                <a:cs typeface="Calibri (MS)"/>
                <a:sym typeface="Calibri (MS)"/>
              </a:rPr>
              <a:t>✓ Sort edges from smallest to largest.</a:t>
            </a: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2DD4BF"/>
                </a:solidFill>
                <a:latin typeface="Calibri (MS)"/>
                <a:ea typeface="Calibri (MS)"/>
                <a:cs typeface="Calibri (MS)"/>
                <a:sym typeface="Calibri (MS)"/>
              </a:rPr>
              <a:t>✓ Accept an edge only if it does not create a cycle.</a:t>
            </a: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2DD4BF"/>
                </a:solidFill>
                <a:latin typeface="Calibri (MS)"/>
                <a:ea typeface="Calibri (MS)"/>
                <a:cs typeface="Calibri (MS)"/>
                <a:sym typeface="Calibri (MS)"/>
              </a:rPr>
              <a:t>✓ Stop after V − 1 edges.</a:t>
            </a: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2DD4BF"/>
                </a:solidFill>
                <a:latin typeface="Calibri (MS)"/>
                <a:ea typeface="Calibri (MS)"/>
                <a:cs typeface="Calibri (MS)"/>
                <a:sym typeface="Calibri (MS)"/>
              </a:rPr>
              <a:t>✓ The selected edges form a minimum spanning tree.</a:t>
            </a:r>
          </a:p>
          <a:p>
            <a:pPr algn="l">
              <a:lnSpc>
                <a:spcPts val="3422"/>
              </a:lnSpc>
            </a:pP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Example result: total weight = 13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530451" y="2813980"/>
            <a:ext cx="5628037" cy="5422106"/>
            <a:chOff x="0" y="0"/>
            <a:chExt cx="7504049" cy="72294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04049" cy="7229475"/>
            </a:xfrm>
            <a:custGeom>
              <a:avLst/>
              <a:gdLst/>
              <a:ahLst/>
              <a:cxnLst/>
              <a:rect r="r" b="b" t="t" l="l"/>
              <a:pathLst>
                <a:path h="7229475" w="7504049">
                  <a:moveTo>
                    <a:pt x="0" y="1204976"/>
                  </a:moveTo>
                  <a:cubicBezTo>
                    <a:pt x="0" y="539496"/>
                    <a:pt x="539496" y="0"/>
                    <a:pt x="1204976" y="0"/>
                  </a:cubicBezTo>
                  <a:lnTo>
                    <a:pt x="6299073" y="0"/>
                  </a:lnTo>
                  <a:cubicBezTo>
                    <a:pt x="6964553" y="0"/>
                    <a:pt x="7504049" y="539496"/>
                    <a:pt x="7504049" y="1204976"/>
                  </a:cubicBezTo>
                  <a:lnTo>
                    <a:pt x="7504049" y="6024499"/>
                  </a:lnTo>
                  <a:cubicBezTo>
                    <a:pt x="7504049" y="6689979"/>
                    <a:pt x="6964553" y="7229475"/>
                    <a:pt x="6299073" y="7229475"/>
                  </a:cubicBezTo>
                  <a:lnTo>
                    <a:pt x="1204976" y="7229475"/>
                  </a:lnTo>
                  <a:cubicBezTo>
                    <a:pt x="539496" y="7229348"/>
                    <a:pt x="0" y="6689979"/>
                    <a:pt x="0" y="6024499"/>
                  </a:cubicBezTo>
                  <a:close/>
                </a:path>
              </a:pathLst>
            </a:custGeom>
            <a:solidFill>
              <a:srgbClr val="0A1223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997109" y="3555178"/>
            <a:ext cx="4694625" cy="439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0" b="true">
                <a:solidFill>
                  <a:srgbClr val="2DD4BF"/>
                </a:solidFill>
                <a:latin typeface="Aptos Bold"/>
                <a:ea typeface="Aptos Bold"/>
                <a:cs typeface="Aptos Bold"/>
                <a:sym typeface="Aptos Bold"/>
              </a:rPr>
              <a:t>AI TOOL CREDIT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010882" y="4461186"/>
            <a:ext cx="4667088" cy="1715843"/>
            <a:chOff x="0" y="0"/>
            <a:chExt cx="6222784" cy="22877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222746" cy="2287778"/>
            </a:xfrm>
            <a:custGeom>
              <a:avLst/>
              <a:gdLst/>
              <a:ahLst/>
              <a:cxnLst/>
              <a:rect r="r" b="b" t="t" l="l"/>
              <a:pathLst>
                <a:path h="2287778" w="6222746">
                  <a:moveTo>
                    <a:pt x="0" y="0"/>
                  </a:moveTo>
                  <a:lnTo>
                    <a:pt x="6222746" y="0"/>
                  </a:lnTo>
                  <a:lnTo>
                    <a:pt x="6222746" y="2287778"/>
                  </a:lnTo>
                  <a:lnTo>
                    <a:pt x="0" y="22877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62" r="0" b="-2962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010882" y="4468330"/>
            <a:ext cx="4667088" cy="1708699"/>
            <a:chOff x="0" y="0"/>
            <a:chExt cx="6222784" cy="227826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222784" cy="2278266"/>
            </a:xfrm>
            <a:custGeom>
              <a:avLst/>
              <a:gdLst/>
              <a:ahLst/>
              <a:cxnLst/>
              <a:rect r="r" b="b" t="t" l="l"/>
              <a:pathLst>
                <a:path h="2278266" w="6222784">
                  <a:moveTo>
                    <a:pt x="0" y="0"/>
                  </a:moveTo>
                  <a:lnTo>
                    <a:pt x="6222784" y="0"/>
                  </a:lnTo>
                  <a:lnTo>
                    <a:pt x="6222784" y="2278266"/>
                  </a:lnTo>
                  <a:lnTo>
                    <a:pt x="0" y="22782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0" r="0" b="-322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6222784" cy="2268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2"/>
                </a:lnSpc>
              </a:pPr>
              <a:r>
                <a:rPr lang="en-US" sz="3302" b="true">
                  <a:solidFill>
                    <a:srgbClr val="F8FAF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Generated using</a:t>
              </a:r>
            </a:p>
            <a:p>
              <a:pPr algn="ctr">
                <a:lnSpc>
                  <a:spcPts val="3962"/>
                </a:lnSpc>
              </a:pPr>
              <a:r>
                <a:rPr lang="en-US" sz="3302" b="true">
                  <a:solidFill>
                    <a:srgbClr val="F8FAF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Canva AI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427540" y="8771334"/>
            <a:ext cx="15401468" cy="370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F472B6"/>
                </a:solidFill>
                <a:latin typeface="Aptos Bold"/>
                <a:ea typeface="Aptos Bold"/>
                <a:cs typeface="Aptos Bold"/>
                <a:sym typeface="Aptos Bold"/>
              </a:rPr>
              <a:t>THANK YOU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7099" y="9754333"/>
            <a:ext cx="14303331" cy="211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CBD5E1"/>
                </a:solidFill>
                <a:latin typeface="Aptos"/>
                <a:ea typeface="Aptos"/>
                <a:cs typeface="Aptos"/>
                <a:sym typeface="Aptos"/>
              </a:rPr>
              <a:t>DAA • Design &amp; Analysis of Algorithms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732834" y="9754333"/>
            <a:ext cx="576605" cy="211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 b="true">
                <a:solidFill>
                  <a:srgbClr val="2DD4BF"/>
                </a:solidFill>
                <a:latin typeface="Aptos Bold"/>
                <a:ea typeface="Aptos Bold"/>
                <a:cs typeface="Aptos Bold"/>
                <a:sym typeface="Aptos Bold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DAHYcgfqXjk</dc:identifier>
  <dcterms:modified xsi:type="dcterms:W3CDTF">2011-08-01T06:04:30Z</dcterms:modified>
  <cp:revision>1</cp:revision>
  <dc:title>Canva_AI_Kruskal's_Algorithm.pptx</dc:title>
</cp:coreProperties>
</file>